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21488400" cy="3063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1D5"/>
    <a:srgbClr val="FFD8AF"/>
    <a:srgbClr val="F0F0F0"/>
    <a:srgbClr val="FF7C80"/>
    <a:srgbClr val="860C18"/>
    <a:srgbClr val="FF0000"/>
    <a:srgbClr val="FF5050"/>
    <a:srgbClr val="910D1A"/>
    <a:srgbClr val="CC0000"/>
    <a:srgbClr val="CE08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0" autoAdjust="0"/>
    <p:restoredTop sz="94340" autoAdjust="0"/>
  </p:normalViewPr>
  <p:slideViewPr>
    <p:cSldViewPr snapToGrid="0">
      <p:cViewPr varScale="1">
        <p:scale>
          <a:sx n="18" d="100"/>
          <a:sy n="18" d="100"/>
        </p:scale>
        <p:origin x="2669"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A8F6AB-5239-492F-9CC8-22B51F81E895}" type="datetimeFigureOut">
              <a:rPr lang="en-US" smtClean="0"/>
              <a:t>3/19/2026</a:t>
            </a:fld>
            <a:endParaRPr lang="en-US"/>
          </a:p>
        </p:txBody>
      </p:sp>
      <p:sp>
        <p:nvSpPr>
          <p:cNvPr id="4" name="Slide Image Placeholder 3"/>
          <p:cNvSpPr>
            <a:spLocks noGrp="1" noRot="1" noChangeAspect="1"/>
          </p:cNvSpPr>
          <p:nvPr>
            <p:ph type="sldImg" idx="2"/>
          </p:nvPr>
        </p:nvSpPr>
        <p:spPr>
          <a:xfrm>
            <a:off x="2346325" y="1143000"/>
            <a:ext cx="21653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418D5-A214-4A36-889E-8FC4593F45A3}" type="slidenum">
              <a:rPr lang="en-US" smtClean="0"/>
              <a:t>‹#›</a:t>
            </a:fld>
            <a:endParaRPr lang="en-US"/>
          </a:p>
        </p:txBody>
      </p:sp>
    </p:spTree>
    <p:extLst>
      <p:ext uri="{BB962C8B-B14F-4D97-AF65-F5344CB8AC3E}">
        <p14:creationId xmlns:p14="http://schemas.microsoft.com/office/powerpoint/2010/main" val="330190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Write your name in short form ( e.g. Abu Bakar Siddiqui &gt; A. B. Siddiqui).</a:t>
            </a:r>
          </a:p>
          <a:p>
            <a:pPr marL="228600" indent="-228600">
              <a:buAutoNum type="arabicPeriod"/>
            </a:pPr>
            <a:r>
              <a:rPr lang="en-US" dirty="0"/>
              <a:t>Maintain the given font type and sizes.</a:t>
            </a:r>
          </a:p>
          <a:p>
            <a:pPr marL="228600" indent="-228600">
              <a:buAutoNum type="arabicPeriod"/>
            </a:pPr>
            <a:r>
              <a:rPr lang="en-US" dirty="0"/>
              <a:t>Add figure caption in italic (</a:t>
            </a:r>
            <a:r>
              <a:rPr lang="en-US" i="1" dirty="0"/>
              <a:t>Fig 1. Schematic Diagram of ……..) </a:t>
            </a:r>
            <a:r>
              <a:rPr lang="en-US" i="0" dirty="0"/>
              <a:t>below the figure with middle alignment</a:t>
            </a:r>
            <a:r>
              <a:rPr lang="en-US" i="1" dirty="0"/>
              <a:t>.</a:t>
            </a:r>
          </a:p>
          <a:p>
            <a:pPr marL="228600" indent="-228600">
              <a:buAutoNum type="arabicPeriod"/>
            </a:pPr>
            <a:r>
              <a:rPr lang="en-US" dirty="0"/>
              <a:t>Add table caption in italic (</a:t>
            </a:r>
            <a:r>
              <a:rPr lang="en-US" i="1" dirty="0"/>
              <a:t>Table 1. List of ……..) </a:t>
            </a:r>
            <a:r>
              <a:rPr lang="en-US" i="0" dirty="0"/>
              <a:t>above the table with middle alignment</a:t>
            </a:r>
            <a:r>
              <a:rPr lang="en-US" i="1" dirty="0"/>
              <a:t>.</a:t>
            </a:r>
          </a:p>
          <a:p>
            <a:pPr marL="228600" indent="-228600">
              <a:buAutoNum type="arabicPeriod"/>
            </a:pPr>
            <a:r>
              <a:rPr lang="en-US" i="1" dirty="0"/>
              <a:t>Introduction: </a:t>
            </a:r>
            <a:r>
              <a:rPr lang="en-US" i="0" dirty="0"/>
              <a:t>Describe the research background with proper references. Follow IEEE reference style.</a:t>
            </a:r>
          </a:p>
          <a:p>
            <a:pPr marL="228600" indent="-228600">
              <a:buAutoNum type="arabicPeriod"/>
            </a:pPr>
            <a:r>
              <a:rPr lang="en-US" i="1" dirty="0"/>
              <a:t>Complex </a:t>
            </a:r>
            <a:r>
              <a:rPr lang="en-US" i="1" dirty="0" err="1"/>
              <a:t>Engg</a:t>
            </a:r>
            <a:r>
              <a:rPr lang="en-US" i="1" dirty="0"/>
              <a:t>. Problem: </a:t>
            </a:r>
          </a:p>
          <a:p>
            <a:pPr marL="228600" indent="-228600">
              <a:buAutoNum type="arabicPeriod"/>
            </a:pPr>
            <a:r>
              <a:rPr lang="en-US" i="1" dirty="0"/>
              <a:t>Methodology: </a:t>
            </a:r>
            <a:r>
              <a:rPr lang="en-US" i="0" dirty="0"/>
              <a:t>Describe briefly the methodology of the project with proper figures and diagrams of CAD model and final product</a:t>
            </a:r>
          </a:p>
          <a:p>
            <a:pPr marL="228600" indent="-228600">
              <a:buAutoNum type="arabicPeriod"/>
            </a:pPr>
            <a:r>
              <a:rPr lang="en-US" i="1" dirty="0"/>
              <a:t>Result &amp; Discussion:  </a:t>
            </a:r>
            <a:r>
              <a:rPr lang="en-US" i="0" dirty="0"/>
              <a:t>Discuss briefly the performance/evaluation of the fabricated model with necessary figures</a:t>
            </a:r>
          </a:p>
          <a:p>
            <a:pPr marL="228600" indent="-228600">
              <a:buAutoNum type="arabicPeriod"/>
            </a:pPr>
            <a:r>
              <a:rPr lang="en-US" i="1" dirty="0"/>
              <a:t>References: </a:t>
            </a:r>
            <a:r>
              <a:rPr lang="en-US" i="0" dirty="0"/>
              <a:t>Name of the first author only, abbreviated journal name, year of publication: volume(issue).</a:t>
            </a:r>
          </a:p>
          <a:p>
            <a:pPr marL="228600" indent="-228600">
              <a:buAutoNum type="arabicPeriod"/>
            </a:pPr>
            <a:endParaRPr lang="en-US" i="0" dirty="0"/>
          </a:p>
          <a:p>
            <a:pPr marL="228600" indent="-228600">
              <a:buAutoNum type="arabicPeriod"/>
            </a:pPr>
            <a:endParaRPr lang="en-US" i="1" dirty="0"/>
          </a:p>
        </p:txBody>
      </p:sp>
      <p:sp>
        <p:nvSpPr>
          <p:cNvPr id="4" name="Slide Number Placeholder 3"/>
          <p:cNvSpPr>
            <a:spLocks noGrp="1"/>
          </p:cNvSpPr>
          <p:nvPr>
            <p:ph type="sldNum" sz="quarter" idx="5"/>
          </p:nvPr>
        </p:nvSpPr>
        <p:spPr/>
        <p:txBody>
          <a:bodyPr/>
          <a:lstStyle/>
          <a:p>
            <a:fld id="{31A418D5-A214-4A36-889E-8FC4593F45A3}" type="slidenum">
              <a:rPr lang="en-US" smtClean="0"/>
              <a:t>1</a:t>
            </a:fld>
            <a:endParaRPr lang="en-US"/>
          </a:p>
        </p:txBody>
      </p:sp>
    </p:spTree>
    <p:extLst>
      <p:ext uri="{BB962C8B-B14F-4D97-AF65-F5344CB8AC3E}">
        <p14:creationId xmlns:p14="http://schemas.microsoft.com/office/powerpoint/2010/main" val="451691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1630" y="5013222"/>
            <a:ext cx="18265140" cy="10664613"/>
          </a:xfrm>
        </p:spPr>
        <p:txBody>
          <a:bodyPr anchor="b"/>
          <a:lstStyle>
            <a:lvl1pPr algn="ctr">
              <a:defRPr sz="14100"/>
            </a:lvl1pPr>
          </a:lstStyle>
          <a:p>
            <a:r>
              <a:rPr lang="en-US"/>
              <a:t>Click to edit Master title style</a:t>
            </a:r>
            <a:endParaRPr lang="en-US" dirty="0"/>
          </a:p>
        </p:txBody>
      </p:sp>
      <p:sp>
        <p:nvSpPr>
          <p:cNvPr id="3" name="Subtitle 2"/>
          <p:cNvSpPr>
            <a:spLocks noGrp="1"/>
          </p:cNvSpPr>
          <p:nvPr>
            <p:ph type="subTitle" idx="1"/>
          </p:nvPr>
        </p:nvSpPr>
        <p:spPr>
          <a:xfrm>
            <a:off x="2686050" y="16089103"/>
            <a:ext cx="16116300" cy="7395737"/>
          </a:xfrm>
        </p:spPr>
        <p:txBody>
          <a:bodyPr/>
          <a:lstStyle>
            <a:lvl1pPr marL="0" indent="0" algn="ctr">
              <a:buNone/>
              <a:defRPr sz="5640"/>
            </a:lvl1pPr>
            <a:lvl2pPr marL="1074420" indent="0" algn="ctr">
              <a:buNone/>
              <a:defRPr sz="4700"/>
            </a:lvl2pPr>
            <a:lvl3pPr marL="2148840" indent="0" algn="ctr">
              <a:buNone/>
              <a:defRPr sz="4230"/>
            </a:lvl3pPr>
            <a:lvl4pPr marL="3223260" indent="0" algn="ctr">
              <a:buNone/>
              <a:defRPr sz="3760"/>
            </a:lvl4pPr>
            <a:lvl5pPr marL="4297680" indent="0" algn="ctr">
              <a:buNone/>
              <a:defRPr sz="3760"/>
            </a:lvl5pPr>
            <a:lvl6pPr marL="5372100" indent="0" algn="ctr">
              <a:buNone/>
              <a:defRPr sz="3760"/>
            </a:lvl6pPr>
            <a:lvl7pPr marL="6446520" indent="0" algn="ctr">
              <a:buNone/>
              <a:defRPr sz="3760"/>
            </a:lvl7pPr>
            <a:lvl8pPr marL="7520940" indent="0" algn="ctr">
              <a:buNone/>
              <a:defRPr sz="3760"/>
            </a:lvl8pPr>
            <a:lvl9pPr marL="8595360" indent="0" algn="ctr">
              <a:buNone/>
              <a:defRPr sz="3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7C6B73-B9BE-4793-A547-82C840164B85}"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1907520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C6B73-B9BE-4793-A547-82C840164B85}"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4908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66137" y="7636837"/>
            <a:ext cx="18533745" cy="12742225"/>
          </a:xfrm>
        </p:spPr>
        <p:txBody>
          <a:bodyPr anchor="b"/>
          <a:lstStyle>
            <a:lvl1pPr>
              <a:defRPr sz="14100"/>
            </a:lvl1pPr>
          </a:lstStyle>
          <a:p>
            <a:r>
              <a:rPr lang="en-US"/>
              <a:t>Click to edit Master title style</a:t>
            </a:r>
            <a:endParaRPr lang="en-US" dirty="0"/>
          </a:p>
        </p:txBody>
      </p:sp>
      <p:sp>
        <p:nvSpPr>
          <p:cNvPr id="3" name="Text Placeholder 2"/>
          <p:cNvSpPr>
            <a:spLocks noGrp="1"/>
          </p:cNvSpPr>
          <p:nvPr>
            <p:ph type="body" idx="1"/>
          </p:nvPr>
        </p:nvSpPr>
        <p:spPr>
          <a:xfrm>
            <a:off x="1466137" y="20499608"/>
            <a:ext cx="18533745" cy="6700835"/>
          </a:xfrm>
        </p:spPr>
        <p:txBody>
          <a:bodyPr/>
          <a:lstStyle>
            <a:lvl1pPr marL="0" indent="0">
              <a:buNone/>
              <a:defRPr sz="5640">
                <a:solidFill>
                  <a:schemeClr val="tx1"/>
                </a:solidFill>
              </a:defRPr>
            </a:lvl1pPr>
            <a:lvl2pPr marL="1074420" indent="0">
              <a:buNone/>
              <a:defRPr sz="4700">
                <a:solidFill>
                  <a:schemeClr val="tx1">
                    <a:tint val="75000"/>
                  </a:schemeClr>
                </a:solidFill>
              </a:defRPr>
            </a:lvl2pPr>
            <a:lvl3pPr marL="2148840" indent="0">
              <a:buNone/>
              <a:defRPr sz="4230">
                <a:solidFill>
                  <a:schemeClr val="tx1">
                    <a:tint val="75000"/>
                  </a:schemeClr>
                </a:solidFill>
              </a:defRPr>
            </a:lvl3pPr>
            <a:lvl4pPr marL="3223260" indent="0">
              <a:buNone/>
              <a:defRPr sz="3760">
                <a:solidFill>
                  <a:schemeClr val="tx1">
                    <a:tint val="75000"/>
                  </a:schemeClr>
                </a:solidFill>
              </a:defRPr>
            </a:lvl4pPr>
            <a:lvl5pPr marL="4297680" indent="0">
              <a:buNone/>
              <a:defRPr sz="3760">
                <a:solidFill>
                  <a:schemeClr val="tx1">
                    <a:tint val="75000"/>
                  </a:schemeClr>
                </a:solidFill>
              </a:defRPr>
            </a:lvl5pPr>
            <a:lvl6pPr marL="5372100" indent="0">
              <a:buNone/>
              <a:defRPr sz="3760">
                <a:solidFill>
                  <a:schemeClr val="tx1">
                    <a:tint val="75000"/>
                  </a:schemeClr>
                </a:solidFill>
              </a:defRPr>
            </a:lvl6pPr>
            <a:lvl7pPr marL="6446520" indent="0">
              <a:buNone/>
              <a:defRPr sz="3760">
                <a:solidFill>
                  <a:schemeClr val="tx1">
                    <a:tint val="75000"/>
                  </a:schemeClr>
                </a:solidFill>
              </a:defRPr>
            </a:lvl7pPr>
            <a:lvl8pPr marL="7520940" indent="0">
              <a:buNone/>
              <a:defRPr sz="3760">
                <a:solidFill>
                  <a:schemeClr val="tx1">
                    <a:tint val="75000"/>
                  </a:schemeClr>
                </a:solidFill>
              </a:defRPr>
            </a:lvl8pPr>
            <a:lvl9pPr marL="8595360" indent="0">
              <a:buNone/>
              <a:defRPr sz="3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7C6B73-B9BE-4793-A547-82C840164B85}"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851081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7328" y="8154459"/>
            <a:ext cx="9132570" cy="194359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78503" y="8154459"/>
            <a:ext cx="9132570" cy="194359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7C6B73-B9BE-4793-A547-82C840164B85}"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2332562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0126" y="1630898"/>
            <a:ext cx="18533745" cy="59208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0129" y="7509195"/>
            <a:ext cx="9090599" cy="3680140"/>
          </a:xfrm>
        </p:spPr>
        <p:txBody>
          <a:bodyPr anchor="b"/>
          <a:lstStyle>
            <a:lvl1pPr marL="0" indent="0">
              <a:buNone/>
              <a:defRPr sz="5640" b="1"/>
            </a:lvl1pPr>
            <a:lvl2pPr marL="1074420" indent="0">
              <a:buNone/>
              <a:defRPr sz="4700" b="1"/>
            </a:lvl2pPr>
            <a:lvl3pPr marL="2148840" indent="0">
              <a:buNone/>
              <a:defRPr sz="4230" b="1"/>
            </a:lvl3pPr>
            <a:lvl4pPr marL="3223260" indent="0">
              <a:buNone/>
              <a:defRPr sz="3760" b="1"/>
            </a:lvl4pPr>
            <a:lvl5pPr marL="4297680" indent="0">
              <a:buNone/>
              <a:defRPr sz="3760" b="1"/>
            </a:lvl5pPr>
            <a:lvl6pPr marL="5372100" indent="0">
              <a:buNone/>
              <a:defRPr sz="3760" b="1"/>
            </a:lvl6pPr>
            <a:lvl7pPr marL="6446520" indent="0">
              <a:buNone/>
              <a:defRPr sz="3760" b="1"/>
            </a:lvl7pPr>
            <a:lvl8pPr marL="7520940" indent="0">
              <a:buNone/>
              <a:defRPr sz="3760" b="1"/>
            </a:lvl8pPr>
            <a:lvl9pPr marL="8595360" indent="0">
              <a:buNone/>
              <a:defRPr sz="3760" b="1"/>
            </a:lvl9pPr>
          </a:lstStyle>
          <a:p>
            <a:pPr lvl="0"/>
            <a:r>
              <a:rPr lang="en-US"/>
              <a:t>Click to edit Master text styles</a:t>
            </a:r>
          </a:p>
        </p:txBody>
      </p:sp>
      <p:sp>
        <p:nvSpPr>
          <p:cNvPr id="4" name="Content Placeholder 3"/>
          <p:cNvSpPr>
            <a:spLocks noGrp="1"/>
          </p:cNvSpPr>
          <p:nvPr>
            <p:ph sz="half" idx="2"/>
          </p:nvPr>
        </p:nvSpPr>
        <p:spPr>
          <a:xfrm>
            <a:off x="1480129" y="11189335"/>
            <a:ext cx="9090599" cy="16457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78504" y="7509195"/>
            <a:ext cx="9135369" cy="3680140"/>
          </a:xfrm>
        </p:spPr>
        <p:txBody>
          <a:bodyPr anchor="b"/>
          <a:lstStyle>
            <a:lvl1pPr marL="0" indent="0">
              <a:buNone/>
              <a:defRPr sz="5640" b="1"/>
            </a:lvl1pPr>
            <a:lvl2pPr marL="1074420" indent="0">
              <a:buNone/>
              <a:defRPr sz="4700" b="1"/>
            </a:lvl2pPr>
            <a:lvl3pPr marL="2148840" indent="0">
              <a:buNone/>
              <a:defRPr sz="4230" b="1"/>
            </a:lvl3pPr>
            <a:lvl4pPr marL="3223260" indent="0">
              <a:buNone/>
              <a:defRPr sz="3760" b="1"/>
            </a:lvl4pPr>
            <a:lvl5pPr marL="4297680" indent="0">
              <a:buNone/>
              <a:defRPr sz="3760" b="1"/>
            </a:lvl5pPr>
            <a:lvl6pPr marL="5372100" indent="0">
              <a:buNone/>
              <a:defRPr sz="3760" b="1"/>
            </a:lvl6pPr>
            <a:lvl7pPr marL="6446520" indent="0">
              <a:buNone/>
              <a:defRPr sz="3760" b="1"/>
            </a:lvl7pPr>
            <a:lvl8pPr marL="7520940" indent="0">
              <a:buNone/>
              <a:defRPr sz="3760" b="1"/>
            </a:lvl8pPr>
            <a:lvl9pPr marL="8595360" indent="0">
              <a:buNone/>
              <a:defRPr sz="3760" b="1"/>
            </a:lvl9pPr>
          </a:lstStyle>
          <a:p>
            <a:pPr lvl="0"/>
            <a:r>
              <a:rPr lang="en-US"/>
              <a:t>Click to edit Master text styles</a:t>
            </a:r>
          </a:p>
        </p:txBody>
      </p:sp>
      <p:sp>
        <p:nvSpPr>
          <p:cNvPr id="6" name="Content Placeholder 5"/>
          <p:cNvSpPr>
            <a:spLocks noGrp="1"/>
          </p:cNvSpPr>
          <p:nvPr>
            <p:ph sz="quarter" idx="4"/>
          </p:nvPr>
        </p:nvSpPr>
        <p:spPr>
          <a:xfrm>
            <a:off x="10878504" y="11189335"/>
            <a:ext cx="9135369" cy="16457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7C6B73-B9BE-4793-A547-82C840164B85}" type="datetimeFigureOut">
              <a:rPr lang="en-US" smtClean="0"/>
              <a:t>3/19/2026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57197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7C6B73-B9BE-4793-A547-82C840164B85}" type="datetimeFigureOut">
              <a:rPr lang="en-US" smtClean="0"/>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248562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7C6B73-B9BE-4793-A547-82C840164B85}" type="datetimeFigureOut">
              <a:rPr lang="en-US" smtClean="0"/>
              <a:t>3/19/2026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110158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0127" y="2042160"/>
            <a:ext cx="6930568" cy="7147560"/>
          </a:xfrm>
        </p:spPr>
        <p:txBody>
          <a:bodyPr anchor="b"/>
          <a:lstStyle>
            <a:lvl1pPr>
              <a:defRPr sz="7520"/>
            </a:lvl1pPr>
          </a:lstStyle>
          <a:p>
            <a:r>
              <a:rPr lang="en-US"/>
              <a:t>Click to edit Master title style</a:t>
            </a:r>
            <a:endParaRPr lang="en-US" dirty="0"/>
          </a:p>
        </p:txBody>
      </p:sp>
      <p:sp>
        <p:nvSpPr>
          <p:cNvPr id="3" name="Content Placeholder 2"/>
          <p:cNvSpPr>
            <a:spLocks noGrp="1"/>
          </p:cNvSpPr>
          <p:nvPr>
            <p:ph idx="1"/>
          </p:nvPr>
        </p:nvSpPr>
        <p:spPr>
          <a:xfrm>
            <a:off x="9135369" y="4410505"/>
            <a:ext cx="10878503" cy="21768858"/>
          </a:xfrm>
        </p:spPr>
        <p:txBody>
          <a:bodyPr/>
          <a:lstStyle>
            <a:lvl1pPr>
              <a:defRPr sz="7520"/>
            </a:lvl1pPr>
            <a:lvl2pPr>
              <a:defRPr sz="6580"/>
            </a:lvl2pPr>
            <a:lvl3pPr>
              <a:defRPr sz="5640"/>
            </a:lvl3pPr>
            <a:lvl4pPr>
              <a:defRPr sz="4700"/>
            </a:lvl4pPr>
            <a:lvl5pPr>
              <a:defRPr sz="4700"/>
            </a:lvl5pPr>
            <a:lvl6pPr>
              <a:defRPr sz="4700"/>
            </a:lvl6pPr>
            <a:lvl7pPr>
              <a:defRPr sz="4700"/>
            </a:lvl7pPr>
            <a:lvl8pPr>
              <a:defRPr sz="4700"/>
            </a:lvl8pPr>
            <a:lvl9pPr>
              <a:defRPr sz="4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0127" y="9189720"/>
            <a:ext cx="6930568" cy="17025093"/>
          </a:xfrm>
        </p:spPr>
        <p:txBody>
          <a:bodyPr/>
          <a:lstStyle>
            <a:lvl1pPr marL="0" indent="0">
              <a:buNone/>
              <a:defRPr sz="3760"/>
            </a:lvl1pPr>
            <a:lvl2pPr marL="1074420" indent="0">
              <a:buNone/>
              <a:defRPr sz="3290"/>
            </a:lvl2pPr>
            <a:lvl3pPr marL="2148840" indent="0">
              <a:buNone/>
              <a:defRPr sz="2820"/>
            </a:lvl3pPr>
            <a:lvl4pPr marL="3223260" indent="0">
              <a:buNone/>
              <a:defRPr sz="2350"/>
            </a:lvl4pPr>
            <a:lvl5pPr marL="4297680" indent="0">
              <a:buNone/>
              <a:defRPr sz="2350"/>
            </a:lvl5pPr>
            <a:lvl6pPr marL="5372100" indent="0">
              <a:buNone/>
              <a:defRPr sz="2350"/>
            </a:lvl6pPr>
            <a:lvl7pPr marL="6446520" indent="0">
              <a:buNone/>
              <a:defRPr sz="2350"/>
            </a:lvl7pPr>
            <a:lvl8pPr marL="7520940" indent="0">
              <a:buNone/>
              <a:defRPr sz="2350"/>
            </a:lvl8pPr>
            <a:lvl9pPr marL="8595360" indent="0">
              <a:buNone/>
              <a:defRPr sz="2350"/>
            </a:lvl9pPr>
          </a:lstStyle>
          <a:p>
            <a:pPr lvl="0"/>
            <a:r>
              <a:rPr lang="en-US"/>
              <a:t>Click to edit Master text styles</a:t>
            </a:r>
          </a:p>
        </p:txBody>
      </p:sp>
      <p:sp>
        <p:nvSpPr>
          <p:cNvPr id="5" name="Date Placeholder 4"/>
          <p:cNvSpPr>
            <a:spLocks noGrp="1"/>
          </p:cNvSpPr>
          <p:nvPr>
            <p:ph type="dt" sz="half" idx="10"/>
          </p:nvPr>
        </p:nvSpPr>
        <p:spPr/>
        <p:txBody>
          <a:bodyPr/>
          <a:lstStyle/>
          <a:p>
            <a:fld id="{FA7C6B73-B9BE-4793-A547-82C840164B85}"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3179526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0127" y="2042160"/>
            <a:ext cx="6930568" cy="7147560"/>
          </a:xfrm>
        </p:spPr>
        <p:txBody>
          <a:bodyPr anchor="b"/>
          <a:lstStyle>
            <a:lvl1pPr>
              <a:defRPr sz="7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5369" y="4410505"/>
            <a:ext cx="10878503" cy="21768858"/>
          </a:xfrm>
        </p:spPr>
        <p:txBody>
          <a:bodyPr anchor="t"/>
          <a:lstStyle>
            <a:lvl1pPr marL="0" indent="0">
              <a:buNone/>
              <a:defRPr sz="7520"/>
            </a:lvl1pPr>
            <a:lvl2pPr marL="1074420" indent="0">
              <a:buNone/>
              <a:defRPr sz="6580"/>
            </a:lvl2pPr>
            <a:lvl3pPr marL="2148840" indent="0">
              <a:buNone/>
              <a:defRPr sz="5640"/>
            </a:lvl3pPr>
            <a:lvl4pPr marL="3223260" indent="0">
              <a:buNone/>
              <a:defRPr sz="4700"/>
            </a:lvl4pPr>
            <a:lvl5pPr marL="4297680" indent="0">
              <a:buNone/>
              <a:defRPr sz="4700"/>
            </a:lvl5pPr>
            <a:lvl6pPr marL="5372100" indent="0">
              <a:buNone/>
              <a:defRPr sz="4700"/>
            </a:lvl6pPr>
            <a:lvl7pPr marL="6446520" indent="0">
              <a:buNone/>
              <a:defRPr sz="4700"/>
            </a:lvl7pPr>
            <a:lvl8pPr marL="7520940" indent="0">
              <a:buNone/>
              <a:defRPr sz="4700"/>
            </a:lvl8pPr>
            <a:lvl9pPr marL="8595360" indent="0">
              <a:buNone/>
              <a:defRPr sz="4700"/>
            </a:lvl9pPr>
          </a:lstStyle>
          <a:p>
            <a:r>
              <a:rPr lang="en-US"/>
              <a:t>Click icon to add picture</a:t>
            </a:r>
            <a:endParaRPr lang="en-US" dirty="0"/>
          </a:p>
        </p:txBody>
      </p:sp>
      <p:sp>
        <p:nvSpPr>
          <p:cNvPr id="4" name="Text Placeholder 3"/>
          <p:cNvSpPr>
            <a:spLocks noGrp="1"/>
          </p:cNvSpPr>
          <p:nvPr>
            <p:ph type="body" sz="half" idx="2"/>
          </p:nvPr>
        </p:nvSpPr>
        <p:spPr>
          <a:xfrm>
            <a:off x="1480127" y="9189720"/>
            <a:ext cx="6930568" cy="17025093"/>
          </a:xfrm>
        </p:spPr>
        <p:txBody>
          <a:bodyPr/>
          <a:lstStyle>
            <a:lvl1pPr marL="0" indent="0">
              <a:buNone/>
              <a:defRPr sz="3760"/>
            </a:lvl1pPr>
            <a:lvl2pPr marL="1074420" indent="0">
              <a:buNone/>
              <a:defRPr sz="3290"/>
            </a:lvl2pPr>
            <a:lvl3pPr marL="2148840" indent="0">
              <a:buNone/>
              <a:defRPr sz="2820"/>
            </a:lvl3pPr>
            <a:lvl4pPr marL="3223260" indent="0">
              <a:buNone/>
              <a:defRPr sz="2350"/>
            </a:lvl4pPr>
            <a:lvl5pPr marL="4297680" indent="0">
              <a:buNone/>
              <a:defRPr sz="2350"/>
            </a:lvl5pPr>
            <a:lvl6pPr marL="5372100" indent="0">
              <a:buNone/>
              <a:defRPr sz="2350"/>
            </a:lvl6pPr>
            <a:lvl7pPr marL="6446520" indent="0">
              <a:buNone/>
              <a:defRPr sz="2350"/>
            </a:lvl7pPr>
            <a:lvl8pPr marL="7520940" indent="0">
              <a:buNone/>
              <a:defRPr sz="2350"/>
            </a:lvl8pPr>
            <a:lvl9pPr marL="8595360" indent="0">
              <a:buNone/>
              <a:defRPr sz="2350"/>
            </a:lvl9pPr>
          </a:lstStyle>
          <a:p>
            <a:pPr lvl="0"/>
            <a:r>
              <a:rPr lang="en-US"/>
              <a:t>Click to edit Master text styles</a:t>
            </a:r>
          </a:p>
        </p:txBody>
      </p:sp>
      <p:sp>
        <p:nvSpPr>
          <p:cNvPr id="5" name="Date Placeholder 4"/>
          <p:cNvSpPr>
            <a:spLocks noGrp="1"/>
          </p:cNvSpPr>
          <p:nvPr>
            <p:ph type="dt" sz="half" idx="10"/>
          </p:nvPr>
        </p:nvSpPr>
        <p:spPr/>
        <p:txBody>
          <a:bodyPr/>
          <a:lstStyle/>
          <a:p>
            <a:fld id="{FA7C6B73-B9BE-4793-A547-82C840164B85}"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977206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C6B73-B9BE-4793-A547-82C840164B85}"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1080764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77638" y="1630892"/>
            <a:ext cx="4633436" cy="259595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7329" y="1630892"/>
            <a:ext cx="13631704" cy="259595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C6B73-B9BE-4793-A547-82C840164B85}"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8229D3-91CA-4799-AEE8-2F911B2B989F}" type="slidenum">
              <a:rPr lang="en-US" smtClean="0"/>
              <a:t>‹#›</a:t>
            </a:fld>
            <a:endParaRPr lang="en-US"/>
          </a:p>
        </p:txBody>
      </p:sp>
    </p:spTree>
    <p:extLst>
      <p:ext uri="{BB962C8B-B14F-4D97-AF65-F5344CB8AC3E}">
        <p14:creationId xmlns:p14="http://schemas.microsoft.com/office/powerpoint/2010/main" val="382575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7328" y="1630898"/>
            <a:ext cx="18533745" cy="592084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7328" y="8154459"/>
            <a:ext cx="18533745" cy="194359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7328" y="28391703"/>
            <a:ext cx="4834890" cy="1630892"/>
          </a:xfrm>
          <a:prstGeom prst="rect">
            <a:avLst/>
          </a:prstGeom>
        </p:spPr>
        <p:txBody>
          <a:bodyPr vert="horz" lIns="91440" tIns="45720" rIns="91440" bIns="45720" rtlCol="0" anchor="ctr"/>
          <a:lstStyle>
            <a:lvl1pPr algn="l">
              <a:defRPr sz="2820">
                <a:solidFill>
                  <a:schemeClr val="tx1">
                    <a:tint val="75000"/>
                  </a:schemeClr>
                </a:solidFill>
              </a:defRPr>
            </a:lvl1pPr>
          </a:lstStyle>
          <a:p>
            <a:fld id="{FA7C6B73-B9BE-4793-A547-82C840164B85}" type="datetimeFigureOut">
              <a:rPr lang="en-US" smtClean="0"/>
              <a:t>3/19/2026</a:t>
            </a:fld>
            <a:endParaRPr lang="en-US"/>
          </a:p>
        </p:txBody>
      </p:sp>
      <p:sp>
        <p:nvSpPr>
          <p:cNvPr id="5" name="Footer Placeholder 4"/>
          <p:cNvSpPr>
            <a:spLocks noGrp="1"/>
          </p:cNvSpPr>
          <p:nvPr>
            <p:ph type="ftr" sz="quarter" idx="3"/>
          </p:nvPr>
        </p:nvSpPr>
        <p:spPr>
          <a:xfrm>
            <a:off x="7118033" y="28391703"/>
            <a:ext cx="7252335" cy="1630892"/>
          </a:xfrm>
          <a:prstGeom prst="rect">
            <a:avLst/>
          </a:prstGeom>
        </p:spPr>
        <p:txBody>
          <a:bodyPr vert="horz" lIns="91440" tIns="45720" rIns="91440" bIns="45720" rtlCol="0" anchor="ctr"/>
          <a:lstStyle>
            <a:lvl1pPr algn="ctr">
              <a:defRPr sz="28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76183" y="28391703"/>
            <a:ext cx="4834890" cy="1630892"/>
          </a:xfrm>
          <a:prstGeom prst="rect">
            <a:avLst/>
          </a:prstGeom>
        </p:spPr>
        <p:txBody>
          <a:bodyPr vert="horz" lIns="91440" tIns="45720" rIns="91440" bIns="45720" rtlCol="0" anchor="ctr"/>
          <a:lstStyle>
            <a:lvl1pPr algn="r">
              <a:defRPr sz="2820">
                <a:solidFill>
                  <a:schemeClr val="tx1">
                    <a:tint val="75000"/>
                  </a:schemeClr>
                </a:solidFill>
              </a:defRPr>
            </a:lvl1pPr>
          </a:lstStyle>
          <a:p>
            <a:fld id="{ED8229D3-91CA-4799-AEE8-2F911B2B989F}" type="slidenum">
              <a:rPr lang="en-US" smtClean="0"/>
              <a:t>‹#›</a:t>
            </a:fld>
            <a:endParaRPr lang="en-US"/>
          </a:p>
        </p:txBody>
      </p:sp>
    </p:spTree>
    <p:extLst>
      <p:ext uri="{BB962C8B-B14F-4D97-AF65-F5344CB8AC3E}">
        <p14:creationId xmlns:p14="http://schemas.microsoft.com/office/powerpoint/2010/main" val="1031791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48840" rtl="0" eaLnBrk="1" latinLnBrk="0" hangingPunct="1">
        <a:lnSpc>
          <a:spcPct val="90000"/>
        </a:lnSpc>
        <a:spcBef>
          <a:spcPct val="0"/>
        </a:spcBef>
        <a:buNone/>
        <a:defRPr sz="10340" kern="1200">
          <a:solidFill>
            <a:schemeClr val="tx1"/>
          </a:solidFill>
          <a:latin typeface="+mj-lt"/>
          <a:ea typeface="+mj-ea"/>
          <a:cs typeface="+mj-cs"/>
        </a:defRPr>
      </a:lvl1pPr>
    </p:titleStyle>
    <p:bodyStyle>
      <a:lvl1pPr marL="537210" indent="-537210" algn="l" defTabSz="2148840" rtl="0" eaLnBrk="1" latinLnBrk="0" hangingPunct="1">
        <a:lnSpc>
          <a:spcPct val="90000"/>
        </a:lnSpc>
        <a:spcBef>
          <a:spcPts val="2350"/>
        </a:spcBef>
        <a:buFont typeface="Arial" panose="020B0604020202020204" pitchFamily="34" charset="0"/>
        <a:buChar char="•"/>
        <a:defRPr sz="6580" kern="1200">
          <a:solidFill>
            <a:schemeClr val="tx1"/>
          </a:solidFill>
          <a:latin typeface="+mn-lt"/>
          <a:ea typeface="+mn-ea"/>
          <a:cs typeface="+mn-cs"/>
        </a:defRPr>
      </a:lvl1pPr>
      <a:lvl2pPr marL="1611630" indent="-537210" algn="l" defTabSz="2148840" rtl="0" eaLnBrk="1" latinLnBrk="0" hangingPunct="1">
        <a:lnSpc>
          <a:spcPct val="90000"/>
        </a:lnSpc>
        <a:spcBef>
          <a:spcPts val="1175"/>
        </a:spcBef>
        <a:buFont typeface="Arial" panose="020B0604020202020204" pitchFamily="34" charset="0"/>
        <a:buChar char="•"/>
        <a:defRPr sz="5640" kern="1200">
          <a:solidFill>
            <a:schemeClr val="tx1"/>
          </a:solidFill>
          <a:latin typeface="+mn-lt"/>
          <a:ea typeface="+mn-ea"/>
          <a:cs typeface="+mn-cs"/>
        </a:defRPr>
      </a:lvl2pPr>
      <a:lvl3pPr marL="2686050" indent="-537210" algn="l" defTabSz="2148840" rtl="0" eaLnBrk="1" latinLnBrk="0" hangingPunct="1">
        <a:lnSpc>
          <a:spcPct val="90000"/>
        </a:lnSpc>
        <a:spcBef>
          <a:spcPts val="1175"/>
        </a:spcBef>
        <a:buFont typeface="Arial" panose="020B0604020202020204" pitchFamily="34" charset="0"/>
        <a:buChar char="•"/>
        <a:defRPr sz="4700" kern="1200">
          <a:solidFill>
            <a:schemeClr val="tx1"/>
          </a:solidFill>
          <a:latin typeface="+mn-lt"/>
          <a:ea typeface="+mn-ea"/>
          <a:cs typeface="+mn-cs"/>
        </a:defRPr>
      </a:lvl3pPr>
      <a:lvl4pPr marL="376047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4pPr>
      <a:lvl5pPr marL="483489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5pPr>
      <a:lvl6pPr marL="590931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6pPr>
      <a:lvl7pPr marL="698373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7pPr>
      <a:lvl8pPr marL="805815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8pPr>
      <a:lvl9pPr marL="9132570" indent="-537210" algn="l" defTabSz="2148840" rtl="0" eaLnBrk="1" latinLnBrk="0" hangingPunct="1">
        <a:lnSpc>
          <a:spcPct val="90000"/>
        </a:lnSpc>
        <a:spcBef>
          <a:spcPts val="1175"/>
        </a:spcBef>
        <a:buFont typeface="Arial" panose="020B0604020202020204" pitchFamily="34" charset="0"/>
        <a:buChar char="•"/>
        <a:defRPr sz="4230" kern="1200">
          <a:solidFill>
            <a:schemeClr val="tx1"/>
          </a:solidFill>
          <a:latin typeface="+mn-lt"/>
          <a:ea typeface="+mn-ea"/>
          <a:cs typeface="+mn-cs"/>
        </a:defRPr>
      </a:lvl9pPr>
    </p:bodyStyle>
    <p:otherStyle>
      <a:defPPr>
        <a:defRPr lang="en-US"/>
      </a:defPPr>
      <a:lvl1pPr marL="0" algn="l" defTabSz="2148840" rtl="0" eaLnBrk="1" latinLnBrk="0" hangingPunct="1">
        <a:defRPr sz="4230" kern="1200">
          <a:solidFill>
            <a:schemeClr val="tx1"/>
          </a:solidFill>
          <a:latin typeface="+mn-lt"/>
          <a:ea typeface="+mn-ea"/>
          <a:cs typeface="+mn-cs"/>
        </a:defRPr>
      </a:lvl1pPr>
      <a:lvl2pPr marL="1074420" algn="l" defTabSz="2148840" rtl="0" eaLnBrk="1" latinLnBrk="0" hangingPunct="1">
        <a:defRPr sz="4230" kern="1200">
          <a:solidFill>
            <a:schemeClr val="tx1"/>
          </a:solidFill>
          <a:latin typeface="+mn-lt"/>
          <a:ea typeface="+mn-ea"/>
          <a:cs typeface="+mn-cs"/>
        </a:defRPr>
      </a:lvl2pPr>
      <a:lvl3pPr marL="2148840" algn="l" defTabSz="2148840" rtl="0" eaLnBrk="1" latinLnBrk="0" hangingPunct="1">
        <a:defRPr sz="4230" kern="1200">
          <a:solidFill>
            <a:schemeClr val="tx1"/>
          </a:solidFill>
          <a:latin typeface="+mn-lt"/>
          <a:ea typeface="+mn-ea"/>
          <a:cs typeface="+mn-cs"/>
        </a:defRPr>
      </a:lvl3pPr>
      <a:lvl4pPr marL="3223260" algn="l" defTabSz="2148840" rtl="0" eaLnBrk="1" latinLnBrk="0" hangingPunct="1">
        <a:defRPr sz="4230" kern="1200">
          <a:solidFill>
            <a:schemeClr val="tx1"/>
          </a:solidFill>
          <a:latin typeface="+mn-lt"/>
          <a:ea typeface="+mn-ea"/>
          <a:cs typeface="+mn-cs"/>
        </a:defRPr>
      </a:lvl4pPr>
      <a:lvl5pPr marL="4297680" algn="l" defTabSz="2148840" rtl="0" eaLnBrk="1" latinLnBrk="0" hangingPunct="1">
        <a:defRPr sz="4230" kern="1200">
          <a:solidFill>
            <a:schemeClr val="tx1"/>
          </a:solidFill>
          <a:latin typeface="+mn-lt"/>
          <a:ea typeface="+mn-ea"/>
          <a:cs typeface="+mn-cs"/>
        </a:defRPr>
      </a:lvl5pPr>
      <a:lvl6pPr marL="5372100" algn="l" defTabSz="2148840" rtl="0" eaLnBrk="1" latinLnBrk="0" hangingPunct="1">
        <a:defRPr sz="4230" kern="1200">
          <a:solidFill>
            <a:schemeClr val="tx1"/>
          </a:solidFill>
          <a:latin typeface="+mn-lt"/>
          <a:ea typeface="+mn-ea"/>
          <a:cs typeface="+mn-cs"/>
        </a:defRPr>
      </a:lvl6pPr>
      <a:lvl7pPr marL="6446520" algn="l" defTabSz="2148840" rtl="0" eaLnBrk="1" latinLnBrk="0" hangingPunct="1">
        <a:defRPr sz="4230" kern="1200">
          <a:solidFill>
            <a:schemeClr val="tx1"/>
          </a:solidFill>
          <a:latin typeface="+mn-lt"/>
          <a:ea typeface="+mn-ea"/>
          <a:cs typeface="+mn-cs"/>
        </a:defRPr>
      </a:lvl7pPr>
      <a:lvl8pPr marL="7520940" algn="l" defTabSz="2148840" rtl="0" eaLnBrk="1" latinLnBrk="0" hangingPunct="1">
        <a:defRPr sz="4230" kern="1200">
          <a:solidFill>
            <a:schemeClr val="tx1"/>
          </a:solidFill>
          <a:latin typeface="+mn-lt"/>
          <a:ea typeface="+mn-ea"/>
          <a:cs typeface="+mn-cs"/>
        </a:defRPr>
      </a:lvl8pPr>
      <a:lvl9pPr marL="8595360" algn="l" defTabSz="2148840" rtl="0" eaLnBrk="1" latinLnBrk="0" hangingPunct="1">
        <a:defRPr sz="42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20">
          <a:fgClr>
            <a:schemeClr val="bg2">
              <a:lumMod val="75000"/>
            </a:schemeClr>
          </a:fgClr>
          <a:bgClr>
            <a:schemeClr val="bg1"/>
          </a:bgClr>
        </a:patt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8CC0EF0-D93E-E0A1-34D0-35E983ADCA05}"/>
              </a:ext>
            </a:extLst>
          </p:cNvPr>
          <p:cNvSpPr/>
          <p:nvPr/>
        </p:nvSpPr>
        <p:spPr>
          <a:xfrm>
            <a:off x="15313" y="-120933"/>
            <a:ext cx="21488399" cy="3368842"/>
          </a:xfrm>
          <a:prstGeom prst="roundRect">
            <a:avLst>
              <a:gd name="adj" fmla="val 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ight Triangle 27">
            <a:extLst>
              <a:ext uri="{FF2B5EF4-FFF2-40B4-BE49-F238E27FC236}">
                <a16:creationId xmlns:a16="http://schemas.microsoft.com/office/drawing/2014/main" id="{2CF933EF-4C5D-037C-91A0-1C086114E446}"/>
              </a:ext>
            </a:extLst>
          </p:cNvPr>
          <p:cNvSpPr/>
          <p:nvPr/>
        </p:nvSpPr>
        <p:spPr>
          <a:xfrm rot="16200000" flipH="1">
            <a:off x="14784924" y="236778"/>
            <a:ext cx="2693583" cy="1965510"/>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A585C7B-DA40-2926-ED0E-FA55027586BF}"/>
              </a:ext>
            </a:extLst>
          </p:cNvPr>
          <p:cNvSpPr/>
          <p:nvPr/>
        </p:nvSpPr>
        <p:spPr>
          <a:xfrm>
            <a:off x="457199" y="340440"/>
            <a:ext cx="15138400" cy="957634"/>
          </a:xfrm>
          <a:prstGeom prst="rect">
            <a:avLst/>
          </a:prstGeom>
          <a:noFill/>
        </p:spPr>
        <p:txBody>
          <a:bodyPr wrap="square" lIns="91440" tIns="45720" rIns="91440" bIns="45720">
            <a:spAutoFit/>
          </a:bodyPr>
          <a:lstStyle/>
          <a:p>
            <a:pPr>
              <a:lnSpc>
                <a:spcPts val="7200"/>
              </a:lnSpc>
            </a:pPr>
            <a:r>
              <a:rPr lang="en-US" sz="4800" dirty="0">
                <a:solidFill>
                  <a:schemeClr val="bg1"/>
                </a:solidFill>
                <a:latin typeface="Garamond" panose="02020404030301010803" pitchFamily="18" charset="0"/>
                <a:ea typeface="Calibri (MS)"/>
                <a:cs typeface="Calibri (MS)"/>
                <a:sym typeface="Calibri (MS)"/>
              </a:rPr>
              <a:t>Forward Propulsion Using Ionic Thruster </a:t>
            </a:r>
          </a:p>
        </p:txBody>
      </p:sp>
      <p:sp>
        <p:nvSpPr>
          <p:cNvPr id="7" name="Rectangle 6">
            <a:extLst>
              <a:ext uri="{FF2B5EF4-FFF2-40B4-BE49-F238E27FC236}">
                <a16:creationId xmlns:a16="http://schemas.microsoft.com/office/drawing/2014/main" id="{BD4949AD-2B12-6127-13E4-AAFC9A450385}"/>
              </a:ext>
            </a:extLst>
          </p:cNvPr>
          <p:cNvSpPr/>
          <p:nvPr/>
        </p:nvSpPr>
        <p:spPr>
          <a:xfrm>
            <a:off x="246876" y="1601013"/>
            <a:ext cx="15533849" cy="1077218"/>
          </a:xfrm>
          <a:prstGeom prst="rect">
            <a:avLst/>
          </a:prstGeom>
          <a:noFill/>
        </p:spPr>
        <p:txBody>
          <a:bodyPr wrap="square" lIns="91440" tIns="45720" rIns="91440" bIns="45720">
            <a:spAutoFit/>
          </a:bodyPr>
          <a:lstStyle/>
          <a:p>
            <a:r>
              <a:rPr lang="en-US" sz="3200" b="0" cap="none" spc="0" dirty="0">
                <a:ln w="0"/>
                <a:solidFill>
                  <a:schemeClr val="bg1"/>
                </a:solidFill>
                <a:latin typeface="Garamond" panose="02020404030301010803" pitchFamily="18" charset="0"/>
                <a:cs typeface="Times New Roman" panose="02020603050405020304" pitchFamily="18" charset="0"/>
              </a:rPr>
              <a:t>I. J. Rahat </a:t>
            </a:r>
            <a:r>
              <a:rPr lang="en-US" sz="2400" dirty="0">
                <a:ln w="0"/>
                <a:solidFill>
                  <a:schemeClr val="bg1"/>
                </a:solidFill>
                <a:latin typeface="Garamond" panose="02020404030301010803" pitchFamily="18" charset="0"/>
                <a:cs typeface="Times New Roman" panose="02020603050405020304" pitchFamily="18" charset="0"/>
              </a:rPr>
              <a:t>(210011243), </a:t>
            </a:r>
            <a:r>
              <a:rPr lang="en-US" sz="3200" dirty="0">
                <a:ln w="0"/>
                <a:solidFill>
                  <a:schemeClr val="bg1"/>
                </a:solidFill>
                <a:latin typeface="Garamond" panose="02020404030301010803" pitchFamily="18" charset="0"/>
                <a:cs typeface="Times New Roman" panose="02020603050405020304" pitchFamily="18" charset="0"/>
              </a:rPr>
              <a:t>C. </a:t>
            </a:r>
            <a:r>
              <a:rPr lang="en-US" sz="3200" dirty="0">
                <a:solidFill>
                  <a:schemeClr val="bg1"/>
                </a:solidFill>
                <a:latin typeface="Garamond" panose="02020404030301010803" pitchFamily="18" charset="0"/>
              </a:rPr>
              <a:t>T. Al Mamun </a:t>
            </a:r>
            <a:r>
              <a:rPr lang="en-US" sz="2400" dirty="0">
                <a:ln w="0"/>
                <a:solidFill>
                  <a:schemeClr val="bg1"/>
                </a:solidFill>
                <a:latin typeface="Garamond" panose="02020404030301010803" pitchFamily="18" charset="0"/>
                <a:cs typeface="Times New Roman" panose="02020603050405020304" pitchFamily="18" charset="0"/>
              </a:rPr>
              <a:t>(</a:t>
            </a:r>
            <a:r>
              <a:rPr lang="en-US" sz="2400" dirty="0">
                <a:solidFill>
                  <a:schemeClr val="bg1"/>
                </a:solidFill>
                <a:latin typeface="Garamond" panose="02020404030301010803" pitchFamily="18" charset="0"/>
              </a:rPr>
              <a:t>210011214</a:t>
            </a:r>
            <a:r>
              <a:rPr lang="en-US" sz="2400" dirty="0">
                <a:ln w="0"/>
                <a:solidFill>
                  <a:schemeClr val="bg1"/>
                </a:solidFill>
                <a:latin typeface="Garamond" panose="02020404030301010803" pitchFamily="18" charset="0"/>
                <a:cs typeface="Times New Roman" panose="02020603050405020304" pitchFamily="18" charset="0"/>
              </a:rPr>
              <a:t>), </a:t>
            </a:r>
            <a:r>
              <a:rPr lang="en-US" sz="3200" dirty="0">
                <a:solidFill>
                  <a:schemeClr val="bg1"/>
                </a:solidFill>
                <a:latin typeface="Garamond" panose="02020404030301010803" pitchFamily="18" charset="0"/>
              </a:rPr>
              <a:t>M. Hasan </a:t>
            </a:r>
            <a:r>
              <a:rPr lang="en-US" sz="2400" b="0" cap="none" spc="0" dirty="0">
                <a:ln w="0"/>
                <a:solidFill>
                  <a:schemeClr val="bg1"/>
                </a:solidFill>
                <a:latin typeface="Garamond" panose="02020404030301010803" pitchFamily="18" charset="0"/>
                <a:cs typeface="Times New Roman" panose="02020603050405020304" pitchFamily="18" charset="0"/>
              </a:rPr>
              <a:t>(</a:t>
            </a:r>
            <a:r>
              <a:rPr lang="en-US" sz="2400" dirty="0">
                <a:solidFill>
                  <a:schemeClr val="bg1"/>
                </a:solidFill>
                <a:latin typeface="Garamond" panose="02020404030301010803" pitchFamily="18" charset="0"/>
              </a:rPr>
              <a:t>210011253), </a:t>
            </a:r>
            <a:r>
              <a:rPr lang="en-US" sz="3200" dirty="0">
                <a:solidFill>
                  <a:schemeClr val="bg1"/>
                </a:solidFill>
                <a:latin typeface="Garamond" panose="02020404030301010803" pitchFamily="18" charset="0"/>
              </a:rPr>
              <a:t>S. S. </a:t>
            </a:r>
            <a:r>
              <a:rPr lang="en-US" sz="3200" dirty="0" err="1">
                <a:solidFill>
                  <a:schemeClr val="bg1"/>
                </a:solidFill>
                <a:latin typeface="Garamond" panose="02020404030301010803" pitchFamily="18" charset="0"/>
              </a:rPr>
              <a:t>Mugdho</a:t>
            </a:r>
            <a:r>
              <a:rPr lang="en-US" sz="3200" dirty="0">
                <a:solidFill>
                  <a:schemeClr val="bg1"/>
                </a:solidFill>
                <a:latin typeface="Garamond" panose="02020404030301010803" pitchFamily="18" charset="0"/>
              </a:rPr>
              <a:t> </a:t>
            </a:r>
            <a:r>
              <a:rPr lang="en-US" sz="2400" dirty="0">
                <a:ln w="0"/>
                <a:solidFill>
                  <a:schemeClr val="bg1"/>
                </a:solidFill>
                <a:latin typeface="Garamond" panose="02020404030301010803" pitchFamily="18" charset="0"/>
                <a:cs typeface="Times New Roman" panose="02020603050405020304" pitchFamily="18" charset="0"/>
              </a:rPr>
              <a:t>(</a:t>
            </a:r>
            <a:r>
              <a:rPr lang="en-US" sz="2400" dirty="0">
                <a:solidFill>
                  <a:schemeClr val="bg1"/>
                </a:solidFill>
                <a:latin typeface="Garamond" panose="02020404030301010803" pitchFamily="18" charset="0"/>
              </a:rPr>
              <a:t>210011262</a:t>
            </a:r>
            <a:r>
              <a:rPr lang="en-US" sz="2400" dirty="0">
                <a:ln w="0"/>
                <a:solidFill>
                  <a:schemeClr val="bg1"/>
                </a:solidFill>
                <a:latin typeface="Garamond" panose="02020404030301010803" pitchFamily="18" charset="0"/>
                <a:cs typeface="Times New Roman" panose="02020603050405020304" pitchFamily="18" charset="0"/>
              </a:rPr>
              <a:t>), </a:t>
            </a:r>
            <a:r>
              <a:rPr lang="en-US" sz="3200" dirty="0">
                <a:solidFill>
                  <a:schemeClr val="bg1"/>
                </a:solidFill>
                <a:latin typeface="Garamond" panose="02020404030301010803" pitchFamily="18" charset="0"/>
              </a:rPr>
              <a:t>R.R. Adib </a:t>
            </a:r>
            <a:r>
              <a:rPr lang="en-US" sz="2400" dirty="0">
                <a:ln w="0"/>
                <a:solidFill>
                  <a:schemeClr val="bg1"/>
                </a:solidFill>
                <a:latin typeface="Garamond" panose="02020404030301010803" pitchFamily="18" charset="0"/>
                <a:cs typeface="Times New Roman" panose="02020603050405020304" pitchFamily="18" charset="0"/>
              </a:rPr>
              <a:t>(</a:t>
            </a:r>
            <a:r>
              <a:rPr lang="en-US" sz="2400" dirty="0">
                <a:solidFill>
                  <a:schemeClr val="bg1"/>
                </a:solidFill>
                <a:latin typeface="Garamond" panose="02020404030301010803" pitchFamily="18" charset="0"/>
              </a:rPr>
              <a:t>210011264), </a:t>
            </a:r>
            <a:r>
              <a:rPr lang="en-US" sz="3200" dirty="0">
                <a:solidFill>
                  <a:schemeClr val="bg1"/>
                </a:solidFill>
                <a:latin typeface="Garamond" panose="02020404030301010803" pitchFamily="18" charset="0"/>
              </a:rPr>
              <a:t>R. Mahmud</a:t>
            </a:r>
            <a:r>
              <a:rPr lang="en-US" sz="2400" dirty="0">
                <a:solidFill>
                  <a:schemeClr val="bg1"/>
                </a:solidFill>
                <a:latin typeface="Garamond" panose="02020404030301010803" pitchFamily="18" charset="0"/>
              </a:rPr>
              <a:t> </a:t>
            </a:r>
            <a:r>
              <a:rPr lang="en-US" sz="2400" dirty="0">
                <a:ln w="0"/>
                <a:solidFill>
                  <a:schemeClr val="bg1"/>
                </a:solidFill>
                <a:latin typeface="Garamond" panose="02020404030301010803" pitchFamily="18" charset="0"/>
                <a:cs typeface="Times New Roman" panose="02020603050405020304" pitchFamily="18" charset="0"/>
              </a:rPr>
              <a:t>(</a:t>
            </a:r>
            <a:r>
              <a:rPr lang="en-US" sz="2400" dirty="0">
                <a:solidFill>
                  <a:schemeClr val="bg1"/>
                </a:solidFill>
                <a:latin typeface="Garamond" panose="02020404030301010803" pitchFamily="18" charset="0"/>
              </a:rPr>
              <a:t>210011285)</a:t>
            </a:r>
            <a:endParaRPr lang="en-US" sz="2400" b="0" cap="none" spc="0" dirty="0">
              <a:ln w="0"/>
              <a:solidFill>
                <a:schemeClr val="bg1"/>
              </a:solidFill>
              <a:latin typeface="Garamond" panose="02020404030301010803" pitchFamily="18" charset="0"/>
              <a:cs typeface="Times New Roman" panose="02020603050405020304" pitchFamily="18" charset="0"/>
            </a:endParaRPr>
          </a:p>
        </p:txBody>
      </p:sp>
      <p:sp>
        <p:nvSpPr>
          <p:cNvPr id="31" name="Rectangle: Rounded Corners 30">
            <a:extLst>
              <a:ext uri="{FF2B5EF4-FFF2-40B4-BE49-F238E27FC236}">
                <a16:creationId xmlns:a16="http://schemas.microsoft.com/office/drawing/2014/main" id="{F3C1F9E6-86C8-348C-A36A-EDBF8B0E7FDE}"/>
              </a:ext>
            </a:extLst>
          </p:cNvPr>
          <p:cNvSpPr/>
          <p:nvPr/>
        </p:nvSpPr>
        <p:spPr>
          <a:xfrm>
            <a:off x="7315200" y="4087433"/>
            <a:ext cx="6858000" cy="25037169"/>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32" name="Rectangle: Diagonal Corners Rounded 31">
            <a:extLst>
              <a:ext uri="{FF2B5EF4-FFF2-40B4-BE49-F238E27FC236}">
                <a16:creationId xmlns:a16="http://schemas.microsoft.com/office/drawing/2014/main" id="{813F0591-5E4C-0964-778A-9FA9D0472ED7}"/>
              </a:ext>
            </a:extLst>
          </p:cNvPr>
          <p:cNvSpPr/>
          <p:nvPr/>
        </p:nvSpPr>
        <p:spPr>
          <a:xfrm>
            <a:off x="7543801" y="4326889"/>
            <a:ext cx="5303520" cy="577516"/>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METHODOLOGY</a:t>
            </a:r>
          </a:p>
        </p:txBody>
      </p:sp>
      <p:sp>
        <p:nvSpPr>
          <p:cNvPr id="33" name="Rectangle: Rounded Corners 32">
            <a:extLst>
              <a:ext uri="{FF2B5EF4-FFF2-40B4-BE49-F238E27FC236}">
                <a16:creationId xmlns:a16="http://schemas.microsoft.com/office/drawing/2014/main" id="{029AF184-1D1F-8B95-5BFB-55DC189B34E1}"/>
              </a:ext>
            </a:extLst>
          </p:cNvPr>
          <p:cNvSpPr/>
          <p:nvPr/>
        </p:nvSpPr>
        <p:spPr>
          <a:xfrm>
            <a:off x="14401800" y="4085934"/>
            <a:ext cx="6858000" cy="19747832"/>
          </a:xfrm>
          <a:prstGeom prst="roundRect">
            <a:avLst>
              <a:gd name="adj" fmla="val 2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34" name="Rectangle: Diagonal Corners Rounded 33">
            <a:extLst>
              <a:ext uri="{FF2B5EF4-FFF2-40B4-BE49-F238E27FC236}">
                <a16:creationId xmlns:a16="http://schemas.microsoft.com/office/drawing/2014/main" id="{D4AB4FCC-0EA7-0289-4379-073EC62AB981}"/>
              </a:ext>
            </a:extLst>
          </p:cNvPr>
          <p:cNvSpPr/>
          <p:nvPr/>
        </p:nvSpPr>
        <p:spPr>
          <a:xfrm>
            <a:off x="14630401" y="4326889"/>
            <a:ext cx="5303520" cy="577516"/>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RESULTS &amp; DISCUSSION</a:t>
            </a:r>
          </a:p>
        </p:txBody>
      </p:sp>
      <p:sp>
        <p:nvSpPr>
          <p:cNvPr id="35" name="Rectangle: Rounded Corners 34">
            <a:extLst>
              <a:ext uri="{FF2B5EF4-FFF2-40B4-BE49-F238E27FC236}">
                <a16:creationId xmlns:a16="http://schemas.microsoft.com/office/drawing/2014/main" id="{B20B16CF-51D1-DEE4-969F-61B6B6E1CA7B}"/>
              </a:ext>
            </a:extLst>
          </p:cNvPr>
          <p:cNvSpPr/>
          <p:nvPr/>
        </p:nvSpPr>
        <p:spPr>
          <a:xfrm>
            <a:off x="68852" y="18215422"/>
            <a:ext cx="6858000" cy="10978150"/>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36" name="Rectangle: Diagonal Corners Rounded 35">
            <a:extLst>
              <a:ext uri="{FF2B5EF4-FFF2-40B4-BE49-F238E27FC236}">
                <a16:creationId xmlns:a16="http://schemas.microsoft.com/office/drawing/2014/main" id="{59598DE4-E64B-A133-51E9-63E6687CD683}"/>
              </a:ext>
            </a:extLst>
          </p:cNvPr>
          <p:cNvSpPr/>
          <p:nvPr/>
        </p:nvSpPr>
        <p:spPr>
          <a:xfrm>
            <a:off x="699546" y="18340120"/>
            <a:ext cx="5303520" cy="577516"/>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COMPLEX ENGG. PROBLEM</a:t>
            </a:r>
          </a:p>
        </p:txBody>
      </p:sp>
      <p:sp>
        <p:nvSpPr>
          <p:cNvPr id="37" name="Rectangle: Rounded Corners 36">
            <a:extLst>
              <a:ext uri="{FF2B5EF4-FFF2-40B4-BE49-F238E27FC236}">
                <a16:creationId xmlns:a16="http://schemas.microsoft.com/office/drawing/2014/main" id="{7B9C359C-6FBF-6082-01DF-CF5B73146836}"/>
              </a:ext>
            </a:extLst>
          </p:cNvPr>
          <p:cNvSpPr/>
          <p:nvPr/>
        </p:nvSpPr>
        <p:spPr>
          <a:xfrm>
            <a:off x="14401800" y="24070857"/>
            <a:ext cx="6858000" cy="5122715"/>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38" name="Rectangle: Diagonal Corners Rounded 37">
            <a:extLst>
              <a:ext uri="{FF2B5EF4-FFF2-40B4-BE49-F238E27FC236}">
                <a16:creationId xmlns:a16="http://schemas.microsoft.com/office/drawing/2014/main" id="{F96999DB-81AB-4C32-52A0-44EA40F4986A}"/>
              </a:ext>
            </a:extLst>
          </p:cNvPr>
          <p:cNvSpPr/>
          <p:nvPr/>
        </p:nvSpPr>
        <p:spPr>
          <a:xfrm>
            <a:off x="14627392" y="24281930"/>
            <a:ext cx="5303520" cy="576072"/>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REFERENCES</a:t>
            </a:r>
          </a:p>
        </p:txBody>
      </p:sp>
      <p:sp>
        <p:nvSpPr>
          <p:cNvPr id="42" name="Freeform: Shape 41">
            <a:extLst>
              <a:ext uri="{FF2B5EF4-FFF2-40B4-BE49-F238E27FC236}">
                <a16:creationId xmlns:a16="http://schemas.microsoft.com/office/drawing/2014/main" id="{80F41681-3904-4D8A-E7B0-11CDFA567060}"/>
              </a:ext>
            </a:extLst>
          </p:cNvPr>
          <p:cNvSpPr/>
          <p:nvPr/>
        </p:nvSpPr>
        <p:spPr>
          <a:xfrm>
            <a:off x="1" y="29456062"/>
            <a:ext cx="21488398" cy="937712"/>
          </a:xfrm>
          <a:custGeom>
            <a:avLst/>
            <a:gdLst>
              <a:gd name="connsiteX0" fmla="*/ 10924698 w 21031200"/>
              <a:gd name="connsiteY0" fmla="*/ 0 h 651710"/>
              <a:gd name="connsiteX1" fmla="*/ 20922580 w 21031200"/>
              <a:gd name="connsiteY1" fmla="*/ 0 h 651710"/>
              <a:gd name="connsiteX2" fmla="*/ 21031200 w 21031200"/>
              <a:gd name="connsiteY2" fmla="*/ 108620 h 651710"/>
              <a:gd name="connsiteX3" fmla="*/ 21031200 w 21031200"/>
              <a:gd name="connsiteY3" fmla="*/ 543088 h 651710"/>
              <a:gd name="connsiteX4" fmla="*/ 20922580 w 21031200"/>
              <a:gd name="connsiteY4" fmla="*/ 651710 h 651710"/>
              <a:gd name="connsiteX5" fmla="*/ 10372647 w 21031200"/>
              <a:gd name="connsiteY5" fmla="*/ 651710 h 651710"/>
              <a:gd name="connsiteX6" fmla="*/ 108621 w 21031200"/>
              <a:gd name="connsiteY6" fmla="*/ 0 h 651710"/>
              <a:gd name="connsiteX7" fmla="*/ 10658548 w 21031200"/>
              <a:gd name="connsiteY7" fmla="*/ 0 h 651710"/>
              <a:gd name="connsiteX8" fmla="*/ 10106498 w 21031200"/>
              <a:gd name="connsiteY8" fmla="*/ 651710 h 651710"/>
              <a:gd name="connsiteX9" fmla="*/ 108621 w 21031200"/>
              <a:gd name="connsiteY9" fmla="*/ 651710 h 651710"/>
              <a:gd name="connsiteX10" fmla="*/ 0 w 21031200"/>
              <a:gd name="connsiteY10" fmla="*/ 543088 h 651710"/>
              <a:gd name="connsiteX11" fmla="*/ 0 w 21031200"/>
              <a:gd name="connsiteY11" fmla="*/ 108620 h 651710"/>
              <a:gd name="connsiteX12" fmla="*/ 108621 w 21031200"/>
              <a:gd name="connsiteY12" fmla="*/ 0 h 65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200" h="651710">
                <a:moveTo>
                  <a:pt x="10924698" y="0"/>
                </a:moveTo>
                <a:lnTo>
                  <a:pt x="20922580" y="0"/>
                </a:lnTo>
                <a:cubicBezTo>
                  <a:pt x="20982568" y="0"/>
                  <a:pt x="21031200" y="48630"/>
                  <a:pt x="21031200" y="108620"/>
                </a:cubicBezTo>
                <a:lnTo>
                  <a:pt x="21031200" y="543088"/>
                </a:lnTo>
                <a:cubicBezTo>
                  <a:pt x="21031200" y="603080"/>
                  <a:pt x="20982568" y="651710"/>
                  <a:pt x="20922580" y="651710"/>
                </a:cubicBezTo>
                <a:lnTo>
                  <a:pt x="10372647" y="651710"/>
                </a:lnTo>
                <a:close/>
                <a:moveTo>
                  <a:pt x="108621" y="0"/>
                </a:moveTo>
                <a:lnTo>
                  <a:pt x="10658548" y="0"/>
                </a:lnTo>
                <a:lnTo>
                  <a:pt x="10106498" y="651710"/>
                </a:lnTo>
                <a:lnTo>
                  <a:pt x="108621" y="651710"/>
                </a:lnTo>
                <a:cubicBezTo>
                  <a:pt x="48631" y="651710"/>
                  <a:pt x="0" y="603080"/>
                  <a:pt x="0" y="543088"/>
                </a:cubicBezTo>
                <a:lnTo>
                  <a:pt x="0" y="108620"/>
                </a:lnTo>
                <a:cubicBezTo>
                  <a:pt x="0" y="48630"/>
                  <a:pt x="48631" y="0"/>
                  <a:pt x="108621" y="0"/>
                </a:cubicBezTo>
                <a:close/>
              </a:path>
            </a:pathLst>
          </a:custGeom>
          <a:solidFill>
            <a:srgbClr val="860C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2200" dirty="0">
              <a:solidFill>
                <a:schemeClr val="bg1"/>
              </a:solidFill>
              <a:latin typeface="Bahnschrift" panose="020B0502040204020203" pitchFamily="34" charset="0"/>
              <a:cs typeface="Times New Roman" panose="02020603050405020304" pitchFamily="18" charset="0"/>
            </a:endParaRPr>
          </a:p>
        </p:txBody>
      </p:sp>
      <p:sp>
        <p:nvSpPr>
          <p:cNvPr id="43" name="TextBox 42">
            <a:extLst>
              <a:ext uri="{FF2B5EF4-FFF2-40B4-BE49-F238E27FC236}">
                <a16:creationId xmlns:a16="http://schemas.microsoft.com/office/drawing/2014/main" id="{7D1B68B1-CBD4-06C4-E424-95CA559A7E97}"/>
              </a:ext>
            </a:extLst>
          </p:cNvPr>
          <p:cNvSpPr txBox="1"/>
          <p:nvPr/>
        </p:nvSpPr>
        <p:spPr>
          <a:xfrm>
            <a:off x="11514223" y="29676718"/>
            <a:ext cx="9650239" cy="523220"/>
          </a:xfrm>
          <a:prstGeom prst="rect">
            <a:avLst/>
          </a:prstGeom>
          <a:noFill/>
        </p:spPr>
        <p:txBody>
          <a:bodyPr wrap="square" rtlCol="0">
            <a:spAutoFit/>
          </a:bodyPr>
          <a:lstStyle/>
          <a:p>
            <a:pPr algn="r"/>
            <a:r>
              <a:rPr lang="en-US" sz="2800" b="1" dirty="0">
                <a:solidFill>
                  <a:schemeClr val="bg1"/>
                </a:solidFill>
                <a:latin typeface="Calibri" panose="020F0502020204030204" pitchFamily="34" charset="0"/>
                <a:cs typeface="Calibri" panose="020F0502020204030204" pitchFamily="34" charset="0"/>
              </a:rPr>
              <a:t>ISLAMIC UNIVERSITY OF TECHNOLOGY (IUT)</a:t>
            </a:r>
            <a:endParaRPr lang="en-US" sz="2800" b="1"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C34FE6EF-6E0D-07B5-8F77-C1C57526F331}"/>
              </a:ext>
            </a:extLst>
          </p:cNvPr>
          <p:cNvSpPr/>
          <p:nvPr/>
        </p:nvSpPr>
        <p:spPr>
          <a:xfrm>
            <a:off x="323938" y="29676718"/>
            <a:ext cx="10693978" cy="523220"/>
          </a:xfrm>
          <a:prstGeom prst="rect">
            <a:avLst/>
          </a:prstGeom>
          <a:noFill/>
        </p:spPr>
        <p:txBody>
          <a:bodyPr wrap="square" lIns="91440" tIns="45720" rIns="91440" bIns="45720">
            <a:spAutoFit/>
          </a:bodyPr>
          <a:lstStyle/>
          <a:p>
            <a:r>
              <a:rPr lang="en-US" sz="2800" b="1" dirty="0">
                <a:solidFill>
                  <a:schemeClr val="bg1"/>
                </a:solidFill>
                <a:latin typeface="Calibri" panose="020F0502020204030204" pitchFamily="34" charset="0"/>
                <a:cs typeface="Calibri" panose="020F0502020204030204" pitchFamily="34" charset="0"/>
              </a:rPr>
              <a:t>DEPARTMENT OF MECHANICAL AND PRODUCTION ENGINEERING</a:t>
            </a:r>
          </a:p>
        </p:txBody>
      </p:sp>
      <p:sp>
        <p:nvSpPr>
          <p:cNvPr id="55" name="TextBox 54">
            <a:extLst>
              <a:ext uri="{FF2B5EF4-FFF2-40B4-BE49-F238E27FC236}">
                <a16:creationId xmlns:a16="http://schemas.microsoft.com/office/drawing/2014/main" id="{FB3A4662-966D-C7EC-AFEE-48E4EAA75FD5}"/>
              </a:ext>
            </a:extLst>
          </p:cNvPr>
          <p:cNvSpPr txBox="1"/>
          <p:nvPr/>
        </p:nvSpPr>
        <p:spPr>
          <a:xfrm>
            <a:off x="14609346" y="4886308"/>
            <a:ext cx="6307555" cy="8956298"/>
          </a:xfrm>
          <a:prstGeom prst="rect">
            <a:avLst/>
          </a:prstGeom>
          <a:noFill/>
        </p:spPr>
        <p:txBody>
          <a:bodyPr wrap="square" rtlCol="0">
            <a:spAutoFit/>
          </a:bodyPr>
          <a:lstStyle/>
          <a:p>
            <a:r>
              <a:rPr lang="en-US" sz="2400" dirty="0">
                <a:latin typeface="Garamond" panose="02020404030301010803" pitchFamily="18" charset="0"/>
              </a:rPr>
              <a:t>The ionic thruster successfully generated measurable airflow, confirming effective ionization and thrust production in the laboratory-scale prototype. Stable ionic wind was observed under optimal electrode spacing and alignment, demonstrating successful implementation of the working principle.</a:t>
            </a:r>
          </a:p>
          <a:p>
            <a:r>
              <a:rPr lang="en-US" sz="2400" dirty="0">
                <a:latin typeface="Garamond" panose="02020404030301010803" pitchFamily="18" charset="0"/>
              </a:rPr>
              <a:t>Occasional sparking and audible discharge were noticed during operation, indicating localized electric field concentration and minor corona instability, likely due to edge irregularities or slight misalignment. Despite this, overall airflow performance remained stable.</a:t>
            </a:r>
          </a:p>
          <a:p>
            <a:r>
              <a:rPr lang="en-US" sz="2400" dirty="0">
                <a:latin typeface="Garamond" panose="02020404030301010803" pitchFamily="18" charset="0"/>
              </a:rPr>
              <a:t>Although designed for approximately 40 kV operation, the actual voltage could not be consistently verified and was likely lower, limiting maximum thrust output. The step-up transformer also experienced durability issues after repeated use.</a:t>
            </a:r>
          </a:p>
          <a:p>
            <a:r>
              <a:rPr lang="en-US" sz="2400" dirty="0">
                <a:latin typeface="Garamond" panose="02020404030301010803" pitchFamily="18" charset="0"/>
              </a:rPr>
              <a:t>Overall, the prototype achieved reasonable thrust for its size. Future improvements should focus on precise voltage regulation, improved transformer robustness, and precision-fabricated electrodes to enhance field uniformity and reduce sparking, enabling more rigorous performance evaluation.</a:t>
            </a:r>
          </a:p>
        </p:txBody>
      </p:sp>
      <p:sp>
        <p:nvSpPr>
          <p:cNvPr id="57" name="TextBox 56">
            <a:extLst>
              <a:ext uri="{FF2B5EF4-FFF2-40B4-BE49-F238E27FC236}">
                <a16:creationId xmlns:a16="http://schemas.microsoft.com/office/drawing/2014/main" id="{7BA6732C-8F92-FCD7-2220-6FADD513D3A1}"/>
              </a:ext>
            </a:extLst>
          </p:cNvPr>
          <p:cNvSpPr txBox="1"/>
          <p:nvPr/>
        </p:nvSpPr>
        <p:spPr>
          <a:xfrm>
            <a:off x="502431" y="18900698"/>
            <a:ext cx="6307555" cy="11914608"/>
          </a:xfrm>
          <a:prstGeom prst="rect">
            <a:avLst/>
          </a:prstGeom>
          <a:noFill/>
        </p:spPr>
        <p:txBody>
          <a:bodyPr wrap="square" rtlCol="0">
            <a:spAutoFit/>
          </a:bodyPr>
          <a:lstStyle/>
          <a:p>
            <a:r>
              <a:rPr lang="en-US" sz="2400" b="1" dirty="0">
                <a:latin typeface="Garamond" panose="02020404030301010803" pitchFamily="18" charset="0"/>
              </a:rPr>
              <a:t>Electrical Challenges</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Reverse ion flow and charge recombination reducing thrust </a:t>
            </a:r>
            <a:r>
              <a:rPr lang="en-US" sz="2400" i="1" dirty="0">
                <a:latin typeface="Garamond" panose="02020404030301010803" pitchFamily="18" charset="0"/>
              </a:rPr>
              <a:t>(WP3, WK3)</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Electrical discharges and corona instability at high voltage </a:t>
            </a:r>
            <a:r>
              <a:rPr lang="en-US" sz="2400" i="1" dirty="0">
                <a:latin typeface="Garamond" panose="02020404030301010803" pitchFamily="18" charset="0"/>
              </a:rPr>
              <a:t>(WP1, WK4)</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Transformer and high-voltage component failures </a:t>
            </a:r>
            <a:r>
              <a:rPr lang="en-US" sz="2400" i="1" dirty="0">
                <a:latin typeface="Garamond" panose="02020404030301010803" pitchFamily="18" charset="0"/>
              </a:rPr>
              <a:t>(WK6)</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Corona losses reducing propulsion efficiency </a:t>
            </a:r>
            <a:r>
              <a:rPr lang="en-US" sz="2400" i="1" dirty="0">
                <a:latin typeface="Garamond" panose="02020404030301010803" pitchFamily="18" charset="0"/>
              </a:rPr>
              <a:t>(WP2)</a:t>
            </a:r>
            <a:endParaRPr lang="en-US" sz="2400" dirty="0">
              <a:latin typeface="Garamond" panose="02020404030301010803" pitchFamily="18" charset="0"/>
            </a:endParaRPr>
          </a:p>
          <a:p>
            <a:r>
              <a:rPr lang="en-US" sz="2400" b="1" dirty="0">
                <a:latin typeface="Garamond" panose="02020404030301010803" pitchFamily="18" charset="0"/>
              </a:rPr>
              <a:t>Flow &amp; Performance Challenges</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Non-uniform ion distribution affecting thrust generation </a:t>
            </a:r>
            <a:r>
              <a:rPr lang="en-US" sz="2400" i="1" dirty="0">
                <a:latin typeface="Garamond" panose="02020404030301010803" pitchFamily="18" charset="0"/>
              </a:rPr>
              <a:t>(WP3, WK2)</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Instability in ion flow behavior under atmospheric conditions </a:t>
            </a:r>
            <a:r>
              <a:rPr lang="en-US" sz="2400" i="1" dirty="0">
                <a:latin typeface="Garamond" panose="02020404030301010803" pitchFamily="18" charset="0"/>
              </a:rPr>
              <a:t>(WP4)</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Limited thrust-to-power ratio requiring optimization </a:t>
            </a:r>
            <a:r>
              <a:rPr lang="en-US" sz="2400" i="1" dirty="0">
                <a:latin typeface="Garamond" panose="02020404030301010803" pitchFamily="18" charset="0"/>
              </a:rPr>
              <a:t>(WP1)</a:t>
            </a:r>
            <a:endParaRPr lang="en-US" sz="2400" dirty="0">
              <a:latin typeface="Garamond" panose="02020404030301010803" pitchFamily="18" charset="0"/>
            </a:endParaRPr>
          </a:p>
          <a:p>
            <a:r>
              <a:rPr lang="en-US" sz="2400" b="1" dirty="0">
                <a:latin typeface="Garamond" panose="02020404030301010803" pitchFamily="18" charset="0"/>
              </a:rPr>
              <a:t>Mechanical &amp; Structural Challenges</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Precision electrode alignment required for stable electric field </a:t>
            </a:r>
            <a:r>
              <a:rPr lang="en-US" sz="2400" i="1" dirty="0">
                <a:latin typeface="Garamond" panose="02020404030301010803" pitchFamily="18" charset="0"/>
              </a:rPr>
              <a:t>(WP7)</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Lightweight yet electrically insulated structure design </a:t>
            </a:r>
            <a:r>
              <a:rPr lang="en-US" sz="2400" i="1" dirty="0">
                <a:latin typeface="Garamond" panose="02020404030301010803" pitchFamily="18" charset="0"/>
              </a:rPr>
              <a:t>(WP2, WK5)</a:t>
            </a:r>
            <a:endParaRPr lang="en-US" sz="2400" dirty="0">
              <a:latin typeface="Garamond" panose="02020404030301010803" pitchFamily="18" charset="0"/>
            </a:endParaRPr>
          </a:p>
          <a:p>
            <a:r>
              <a:rPr lang="en-US" sz="2400" b="1" dirty="0">
                <a:latin typeface="Garamond" panose="02020404030301010803" pitchFamily="18" charset="0"/>
              </a:rPr>
              <a:t>Engineering Activities (EA)</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Integration of high-voltage system, electrode design, and structural housing </a:t>
            </a:r>
            <a:r>
              <a:rPr lang="en-US" sz="2400" i="1" dirty="0">
                <a:latin typeface="Garamond" panose="02020404030301010803" pitchFamily="18" charset="0"/>
              </a:rPr>
              <a:t>(EA1, EA2)</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Experimental optimization of electrode spacing and multi-stage configuration </a:t>
            </a:r>
            <a:r>
              <a:rPr lang="en-US" sz="2400" i="1" dirty="0">
                <a:latin typeface="Garamond" panose="02020404030301010803" pitchFamily="18" charset="0"/>
              </a:rPr>
              <a:t>(EA3)</a:t>
            </a:r>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Prototype testing and performance evaluation of ionic propulsion </a:t>
            </a:r>
            <a:r>
              <a:rPr lang="en-US" sz="2400" i="1" dirty="0">
                <a:latin typeface="Garamond" panose="02020404030301010803" pitchFamily="18" charset="0"/>
              </a:rPr>
              <a:t>(EA5)</a:t>
            </a:r>
            <a:endParaRPr lang="en-US" sz="2400" dirty="0">
              <a:latin typeface="Garamond" panose="02020404030301010803" pitchFamily="18" charset="0"/>
            </a:endParaRPr>
          </a:p>
          <a:p>
            <a:pPr algn="l">
              <a:lnSpc>
                <a:spcPts val="2864"/>
              </a:lnSpc>
            </a:pPr>
            <a:endParaRPr lang="en-US" sz="2400" dirty="0">
              <a:solidFill>
                <a:srgbClr val="000000"/>
              </a:solidFill>
              <a:latin typeface="Garamond" panose="02020404030301010803" pitchFamily="18" charset="0"/>
              <a:ea typeface="Garamond"/>
              <a:cs typeface="Garamond"/>
              <a:sym typeface="Garamond"/>
            </a:endParaRPr>
          </a:p>
          <a:p>
            <a:pPr algn="l">
              <a:lnSpc>
                <a:spcPts val="2864"/>
              </a:lnSpc>
            </a:pPr>
            <a:endParaRPr lang="en-US" sz="2400" dirty="0">
              <a:solidFill>
                <a:srgbClr val="000000"/>
              </a:solidFill>
              <a:latin typeface="Garamond" panose="02020404030301010803" pitchFamily="18" charset="0"/>
              <a:ea typeface="Garamond"/>
              <a:cs typeface="Garamond"/>
              <a:sym typeface="Garamond"/>
            </a:endParaRPr>
          </a:p>
          <a:p>
            <a:pPr marL="342900" indent="-342900" algn="l">
              <a:lnSpc>
                <a:spcPts val="2864"/>
              </a:lnSpc>
              <a:buFont typeface="Arial" panose="020B0604020202020204" pitchFamily="34" charset="0"/>
              <a:buChar char="•"/>
            </a:pPr>
            <a:endParaRPr lang="en-US" sz="2400" dirty="0">
              <a:solidFill>
                <a:srgbClr val="000000"/>
              </a:solidFill>
              <a:latin typeface="Garamond" panose="02020404030301010803" pitchFamily="18" charset="0"/>
              <a:ea typeface="Garamond"/>
              <a:cs typeface="Garamond"/>
              <a:sym typeface="Garamond"/>
            </a:endParaRPr>
          </a:p>
          <a:p>
            <a:pPr algn="l">
              <a:lnSpc>
                <a:spcPts val="2864"/>
              </a:lnSpc>
            </a:pPr>
            <a:endParaRPr lang="en-US" sz="2400" dirty="0">
              <a:solidFill>
                <a:srgbClr val="000000"/>
              </a:solidFill>
              <a:latin typeface="Garamond" panose="02020404030301010803" pitchFamily="18" charset="0"/>
              <a:ea typeface="Garamond"/>
              <a:cs typeface="Garamond"/>
              <a:sym typeface="Garamond"/>
            </a:endParaRPr>
          </a:p>
        </p:txBody>
      </p:sp>
      <p:sp>
        <p:nvSpPr>
          <p:cNvPr id="58" name="TextBox 57">
            <a:extLst>
              <a:ext uri="{FF2B5EF4-FFF2-40B4-BE49-F238E27FC236}">
                <a16:creationId xmlns:a16="http://schemas.microsoft.com/office/drawing/2014/main" id="{A18CB49C-7331-34CE-9B41-AAB21206736B}"/>
              </a:ext>
            </a:extLst>
          </p:cNvPr>
          <p:cNvSpPr txBox="1"/>
          <p:nvPr/>
        </p:nvSpPr>
        <p:spPr>
          <a:xfrm>
            <a:off x="14609345" y="24988771"/>
            <a:ext cx="6307555" cy="3804696"/>
          </a:xfrm>
          <a:prstGeom prst="rect">
            <a:avLst/>
          </a:prstGeom>
          <a:noFill/>
        </p:spPr>
        <p:txBody>
          <a:bodyPr wrap="square" rtlCol="0">
            <a:spAutoFit/>
          </a:bodyPr>
          <a:lstStyle/>
          <a:p>
            <a:pPr marL="515404" lvl="1" indent="-257702" algn="l">
              <a:lnSpc>
                <a:spcPts val="2864"/>
              </a:lnSpc>
              <a:buAutoNum type="arabicPeriod"/>
            </a:pPr>
            <a:r>
              <a:rPr lang="en-US" sz="2400" dirty="0">
                <a:solidFill>
                  <a:srgbClr val="000000"/>
                </a:solidFill>
                <a:latin typeface="Garamond"/>
                <a:ea typeface="Garamond"/>
                <a:cs typeface="Garamond"/>
                <a:sym typeface="Garamond"/>
              </a:rPr>
              <a:t>D. M. Goebel, I. Katz, and I. G. </a:t>
            </a:r>
            <a:r>
              <a:rPr lang="en-US" sz="2400" dirty="0" err="1">
                <a:solidFill>
                  <a:srgbClr val="000000"/>
                </a:solidFill>
                <a:latin typeface="Garamond"/>
                <a:ea typeface="Garamond"/>
                <a:cs typeface="Garamond"/>
                <a:sym typeface="Garamond"/>
              </a:rPr>
              <a:t>Mikellides</a:t>
            </a:r>
            <a:r>
              <a:rPr lang="en-US" sz="2400" dirty="0">
                <a:solidFill>
                  <a:srgbClr val="000000"/>
                </a:solidFill>
                <a:latin typeface="Garamond"/>
                <a:ea typeface="Garamond"/>
                <a:cs typeface="Garamond"/>
                <a:sym typeface="Garamond"/>
              </a:rPr>
              <a:t>, Fundamentals of Electric Propulsion, 2nd ed. Hoboken, NJ, USA: Wiley, 2023.</a:t>
            </a:r>
          </a:p>
          <a:p>
            <a:pPr marL="515404" lvl="1" indent="-257702" algn="l">
              <a:lnSpc>
                <a:spcPts val="2864"/>
              </a:lnSpc>
              <a:buAutoNum type="arabicPeriod"/>
            </a:pPr>
            <a:r>
              <a:rPr lang="en-US" sz="2400" dirty="0">
                <a:solidFill>
                  <a:srgbClr val="000000"/>
                </a:solidFill>
                <a:latin typeface="Garamond"/>
                <a:ea typeface="Garamond"/>
                <a:cs typeface="Garamond"/>
                <a:sym typeface="Garamond"/>
              </a:rPr>
              <a:t>V. Y. </a:t>
            </a:r>
            <a:r>
              <a:rPr lang="en-US" sz="2400" dirty="0" err="1">
                <a:solidFill>
                  <a:srgbClr val="000000"/>
                </a:solidFill>
                <a:latin typeface="Garamond"/>
                <a:ea typeface="Garamond"/>
                <a:cs typeface="Garamond"/>
                <a:sym typeface="Garamond"/>
              </a:rPr>
              <a:t>Khomich</a:t>
            </a:r>
            <a:r>
              <a:rPr lang="en-US" sz="2400" dirty="0">
                <a:solidFill>
                  <a:srgbClr val="000000"/>
                </a:solidFill>
                <a:latin typeface="Garamond"/>
                <a:ea typeface="Garamond"/>
                <a:cs typeface="Garamond"/>
                <a:sym typeface="Garamond"/>
              </a:rPr>
              <a:t>, V. E. </a:t>
            </a:r>
            <a:r>
              <a:rPr lang="en-US" sz="2400" dirty="0" err="1">
                <a:solidFill>
                  <a:srgbClr val="000000"/>
                </a:solidFill>
                <a:latin typeface="Garamond"/>
                <a:ea typeface="Garamond"/>
                <a:cs typeface="Garamond"/>
                <a:sym typeface="Garamond"/>
              </a:rPr>
              <a:t>Malanichev</a:t>
            </a:r>
            <a:r>
              <a:rPr lang="en-US" sz="2400" dirty="0">
                <a:solidFill>
                  <a:srgbClr val="000000"/>
                </a:solidFill>
                <a:latin typeface="Garamond"/>
                <a:ea typeface="Garamond"/>
                <a:cs typeface="Garamond"/>
                <a:sym typeface="Garamond"/>
              </a:rPr>
              <a:t>, and I. E. </a:t>
            </a:r>
            <a:r>
              <a:rPr lang="en-US" sz="2400" dirty="0" err="1">
                <a:solidFill>
                  <a:srgbClr val="000000"/>
                </a:solidFill>
                <a:latin typeface="Garamond"/>
                <a:ea typeface="Garamond"/>
                <a:cs typeface="Garamond"/>
                <a:sym typeface="Garamond"/>
              </a:rPr>
              <a:t>Rebrov</a:t>
            </a:r>
            <a:r>
              <a:rPr lang="en-US" sz="2400" dirty="0">
                <a:solidFill>
                  <a:srgbClr val="000000"/>
                </a:solidFill>
                <a:latin typeface="Garamond"/>
                <a:ea typeface="Garamond"/>
                <a:cs typeface="Garamond"/>
                <a:sym typeface="Garamond"/>
              </a:rPr>
              <a:t>, “Electrohydrodynamic thruster for near-space applications,” Acta </a:t>
            </a:r>
            <a:r>
              <a:rPr lang="en-US" sz="2400" dirty="0" err="1">
                <a:solidFill>
                  <a:srgbClr val="000000"/>
                </a:solidFill>
                <a:latin typeface="Garamond"/>
                <a:ea typeface="Garamond"/>
                <a:cs typeface="Garamond"/>
                <a:sym typeface="Garamond"/>
              </a:rPr>
              <a:t>Astronautica</a:t>
            </a:r>
            <a:r>
              <a:rPr lang="en-US" sz="2400" dirty="0">
                <a:solidFill>
                  <a:srgbClr val="000000"/>
                </a:solidFill>
                <a:latin typeface="Garamond"/>
                <a:ea typeface="Garamond"/>
                <a:cs typeface="Garamond"/>
                <a:sym typeface="Garamond"/>
              </a:rPr>
              <a:t>, vol. 180, pp. 141–148, 2021, </a:t>
            </a:r>
            <a:r>
              <a:rPr lang="en-US" sz="2400" dirty="0" err="1">
                <a:solidFill>
                  <a:srgbClr val="000000"/>
                </a:solidFill>
                <a:latin typeface="Garamond"/>
                <a:ea typeface="Garamond"/>
                <a:cs typeface="Garamond"/>
                <a:sym typeface="Garamond"/>
              </a:rPr>
              <a:t>doi</a:t>
            </a:r>
            <a:r>
              <a:rPr lang="en-US" sz="2400" dirty="0">
                <a:solidFill>
                  <a:srgbClr val="000000"/>
                </a:solidFill>
                <a:latin typeface="Garamond"/>
                <a:ea typeface="Garamond"/>
                <a:cs typeface="Garamond"/>
                <a:sym typeface="Garamond"/>
              </a:rPr>
              <a:t>: 10.1016/j.actaastro.2020.12.002.</a:t>
            </a:r>
          </a:p>
          <a:p>
            <a:pPr marL="515404" lvl="1" indent="-257702" algn="l">
              <a:lnSpc>
                <a:spcPts val="2864"/>
              </a:lnSpc>
              <a:buAutoNum type="arabicPeriod"/>
            </a:pPr>
            <a:r>
              <a:rPr lang="en-US" sz="2400" dirty="0">
                <a:solidFill>
                  <a:srgbClr val="000000"/>
                </a:solidFill>
                <a:latin typeface="Garamond"/>
                <a:ea typeface="Garamond"/>
                <a:cs typeface="Garamond"/>
                <a:sym typeface="Garamond"/>
              </a:rPr>
              <a:t>E. </a:t>
            </a:r>
            <a:r>
              <a:rPr lang="en-US" sz="2400" dirty="0" err="1">
                <a:solidFill>
                  <a:srgbClr val="000000"/>
                </a:solidFill>
                <a:latin typeface="Garamond"/>
                <a:ea typeface="Garamond"/>
                <a:cs typeface="Garamond"/>
                <a:sym typeface="Garamond"/>
              </a:rPr>
              <a:t>Stuhlinger</a:t>
            </a:r>
            <a:r>
              <a:rPr lang="en-US" sz="2400" dirty="0">
                <a:solidFill>
                  <a:srgbClr val="000000"/>
                </a:solidFill>
                <a:latin typeface="Garamond"/>
                <a:ea typeface="Garamond"/>
                <a:cs typeface="Garamond"/>
                <a:sym typeface="Garamond"/>
              </a:rPr>
              <a:t>, Ion Propulsion for Space Flight. New York, NY, USA: McGraw-Hill, 1964</a:t>
            </a:r>
          </a:p>
        </p:txBody>
      </p:sp>
      <p:sp>
        <p:nvSpPr>
          <p:cNvPr id="50" name="Isosceles Triangle 49">
            <a:extLst>
              <a:ext uri="{FF2B5EF4-FFF2-40B4-BE49-F238E27FC236}">
                <a16:creationId xmlns:a16="http://schemas.microsoft.com/office/drawing/2014/main" id="{2FE20A88-01FC-7641-6830-41EF6E65DC3E}"/>
              </a:ext>
            </a:extLst>
          </p:cNvPr>
          <p:cNvSpPr/>
          <p:nvPr/>
        </p:nvSpPr>
        <p:spPr>
          <a:xfrm rot="10800000">
            <a:off x="15595599" y="3703036"/>
            <a:ext cx="328863" cy="287251"/>
          </a:xfrm>
          <a:prstGeom prst="triangle">
            <a:avLst/>
          </a:prstGeom>
          <a:solidFill>
            <a:schemeClr val="bg1">
              <a:lumMod val="5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4C546C4F-BCD7-5638-60FA-E79D0874FD52}"/>
              </a:ext>
            </a:extLst>
          </p:cNvPr>
          <p:cNvSpPr/>
          <p:nvPr/>
        </p:nvSpPr>
        <p:spPr>
          <a:xfrm>
            <a:off x="-1" y="3322212"/>
            <a:ext cx="16459201" cy="554148"/>
          </a:xfrm>
          <a:prstGeom prst="rect">
            <a:avLst/>
          </a:prstGeom>
          <a:solidFill>
            <a:srgbClr val="FFE1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50CBA33F-FB73-0C6C-9957-A34CB30EA9B1}"/>
              </a:ext>
            </a:extLst>
          </p:cNvPr>
          <p:cNvSpPr/>
          <p:nvPr/>
        </p:nvSpPr>
        <p:spPr>
          <a:xfrm>
            <a:off x="15839582" y="-173245"/>
            <a:ext cx="5707673" cy="3996689"/>
          </a:xfrm>
          <a:custGeom>
            <a:avLst/>
            <a:gdLst>
              <a:gd name="connsiteX0" fmla="*/ 1552074 w 6720348"/>
              <a:gd name="connsiteY0" fmla="*/ 0 h 3368842"/>
              <a:gd name="connsiteX1" fmla="*/ 1570832 w 6720348"/>
              <a:gd name="connsiteY1" fmla="*/ 40715 h 3368842"/>
              <a:gd name="connsiteX2" fmla="*/ 1570832 w 6720348"/>
              <a:gd name="connsiteY2" fmla="*/ 0 h 3368842"/>
              <a:gd name="connsiteX3" fmla="*/ 6720348 w 6720348"/>
              <a:gd name="connsiteY3" fmla="*/ 0 h 3368842"/>
              <a:gd name="connsiteX4" fmla="*/ 6720348 w 6720348"/>
              <a:gd name="connsiteY4" fmla="*/ 3368842 h 3368842"/>
              <a:gd name="connsiteX5" fmla="*/ 3104148 w 6720348"/>
              <a:gd name="connsiteY5" fmla="*/ 3368842 h 3368842"/>
              <a:gd name="connsiteX6" fmla="*/ 1570832 w 6720348"/>
              <a:gd name="connsiteY6" fmla="*/ 3368842 h 3368842"/>
              <a:gd name="connsiteX7" fmla="*/ 0 w 6720348"/>
              <a:gd name="connsiteY7" fmla="*/ 3368842 h 336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0348" h="3368842">
                <a:moveTo>
                  <a:pt x="1552074" y="0"/>
                </a:moveTo>
                <a:lnTo>
                  <a:pt x="1570832" y="40715"/>
                </a:lnTo>
                <a:lnTo>
                  <a:pt x="1570832" y="0"/>
                </a:lnTo>
                <a:lnTo>
                  <a:pt x="6720348" y="0"/>
                </a:lnTo>
                <a:lnTo>
                  <a:pt x="6720348" y="3368842"/>
                </a:lnTo>
                <a:lnTo>
                  <a:pt x="3104148" y="3368842"/>
                </a:lnTo>
                <a:lnTo>
                  <a:pt x="1570832" y="3368842"/>
                </a:lnTo>
                <a:lnTo>
                  <a:pt x="0" y="3368842"/>
                </a:lnTo>
                <a:close/>
              </a:path>
            </a:pathLst>
          </a:custGeom>
          <a:solidFill>
            <a:schemeClr val="bg1">
              <a:lumMod val="95000"/>
            </a:schemeClr>
          </a:solidFill>
          <a:ln>
            <a:noFill/>
          </a:ln>
          <a:effectLst>
            <a:outerShdw blurRad="635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26" name="Picture 2" descr="undefined">
            <a:extLst>
              <a:ext uri="{FF2B5EF4-FFF2-40B4-BE49-F238E27FC236}">
                <a16:creationId xmlns:a16="http://schemas.microsoft.com/office/drawing/2014/main" id="{EF155CB8-B24C-C4DA-EA09-1735A94CB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24400" y="828882"/>
            <a:ext cx="1428703" cy="2338924"/>
          </a:xfrm>
          <a:prstGeom prst="rect">
            <a:avLst/>
          </a:prstGeom>
          <a:noFill/>
        </p:spPr>
      </p:pic>
      <p:grpSp>
        <p:nvGrpSpPr>
          <p:cNvPr id="29" name="Group 28">
            <a:extLst>
              <a:ext uri="{FF2B5EF4-FFF2-40B4-BE49-F238E27FC236}">
                <a16:creationId xmlns:a16="http://schemas.microsoft.com/office/drawing/2014/main" id="{B3AD377F-7998-A3CC-F963-8B98A6EE7D6B}"/>
              </a:ext>
            </a:extLst>
          </p:cNvPr>
          <p:cNvGrpSpPr/>
          <p:nvPr/>
        </p:nvGrpSpPr>
        <p:grpSpPr>
          <a:xfrm>
            <a:off x="19288400" y="1130598"/>
            <a:ext cx="1878872" cy="1688825"/>
            <a:chOff x="19288400" y="1130598"/>
            <a:chExt cx="1878872" cy="1688825"/>
          </a:xfrm>
        </p:grpSpPr>
        <p:sp>
          <p:nvSpPr>
            <p:cNvPr id="16" name="Oval 15">
              <a:extLst>
                <a:ext uri="{FF2B5EF4-FFF2-40B4-BE49-F238E27FC236}">
                  <a16:creationId xmlns:a16="http://schemas.microsoft.com/office/drawing/2014/main" id="{18D9057A-9725-228F-5475-13B787EEB96E}"/>
                </a:ext>
              </a:extLst>
            </p:cNvPr>
            <p:cNvSpPr/>
            <p:nvPr/>
          </p:nvSpPr>
          <p:spPr>
            <a:xfrm>
              <a:off x="19430559" y="1174108"/>
              <a:ext cx="1597216" cy="158344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green and black logo&#10;&#10;Description automatically generated">
              <a:extLst>
                <a:ext uri="{FF2B5EF4-FFF2-40B4-BE49-F238E27FC236}">
                  <a16:creationId xmlns:a16="http://schemas.microsoft.com/office/drawing/2014/main" id="{A81490C2-CC9C-532A-AD27-546C299136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88400" y="1130598"/>
              <a:ext cx="1878872" cy="1688825"/>
            </a:xfrm>
            <a:prstGeom prst="rect">
              <a:avLst/>
            </a:prstGeom>
          </p:spPr>
        </p:pic>
      </p:grpSp>
      <p:sp>
        <p:nvSpPr>
          <p:cNvPr id="46" name="Rectangle 45">
            <a:extLst>
              <a:ext uri="{FF2B5EF4-FFF2-40B4-BE49-F238E27FC236}">
                <a16:creationId xmlns:a16="http://schemas.microsoft.com/office/drawing/2014/main" id="{EAC9FA7D-01CC-DB7D-7020-2A50F7EFFBF3}"/>
              </a:ext>
            </a:extLst>
          </p:cNvPr>
          <p:cNvSpPr/>
          <p:nvPr/>
        </p:nvSpPr>
        <p:spPr>
          <a:xfrm>
            <a:off x="392078" y="3285257"/>
            <a:ext cx="21357772" cy="584775"/>
          </a:xfrm>
          <a:prstGeom prst="rect">
            <a:avLst/>
          </a:prstGeom>
          <a:noFill/>
          <a:effectLst/>
        </p:spPr>
        <p:txBody>
          <a:bodyPr wrap="square" lIns="91440" tIns="45720" rIns="91440" bIns="45720">
            <a:spAutoFit/>
          </a:bodyPr>
          <a:lstStyle/>
          <a:p>
            <a:r>
              <a:rPr lang="en-US" sz="3200" b="1" cap="none" spc="0" dirty="0">
                <a:ln w="0"/>
                <a:latin typeface="Helvetica" pitchFamily="2" charset="0"/>
                <a:cs typeface="Times New Roman" panose="02020603050405020304" pitchFamily="18" charset="0"/>
              </a:rPr>
              <a:t>Capstone Design (ME/IPE 4710)   </a:t>
            </a:r>
            <a:r>
              <a:rPr lang="en-US" sz="3200" b="1" cap="none" spc="0" dirty="0">
                <a:ln w="0"/>
                <a:solidFill>
                  <a:schemeClr val="bg1"/>
                </a:solidFill>
                <a:latin typeface="Helvetica" pitchFamily="2" charset="0"/>
                <a:cs typeface="Times New Roman" panose="02020603050405020304" pitchFamily="18" charset="0"/>
              </a:rPr>
              <a:t>|</a:t>
            </a:r>
            <a:r>
              <a:rPr lang="en-US" sz="3200" b="1" cap="none" spc="0" dirty="0">
                <a:ln w="0"/>
                <a:latin typeface="Helvetica" pitchFamily="2" charset="0"/>
                <a:cs typeface="Times New Roman" panose="02020603050405020304" pitchFamily="18" charset="0"/>
              </a:rPr>
              <a:t>   </a:t>
            </a:r>
            <a:r>
              <a:rPr lang="en-US" sz="2800" cap="none" spc="0" dirty="0">
                <a:ln w="0"/>
                <a:latin typeface="Helvetica" pitchFamily="2" charset="0"/>
                <a:cs typeface="Times New Roman" panose="02020603050405020304" pitchFamily="18" charset="0"/>
              </a:rPr>
              <a:t>Academic Year: 2023-24</a:t>
            </a:r>
            <a:endParaRPr lang="en-US" sz="3200" cap="none" spc="0" dirty="0">
              <a:ln w="0"/>
              <a:latin typeface="Helvetica" pitchFamily="2" charset="0"/>
              <a:cs typeface="Times New Roman" panose="02020603050405020304" pitchFamily="18" charset="0"/>
            </a:endParaRPr>
          </a:p>
        </p:txBody>
      </p:sp>
      <p:sp>
        <p:nvSpPr>
          <p:cNvPr id="27" name="Rectangle 26">
            <a:extLst>
              <a:ext uri="{FF2B5EF4-FFF2-40B4-BE49-F238E27FC236}">
                <a16:creationId xmlns:a16="http://schemas.microsoft.com/office/drawing/2014/main" id="{18DFDA09-03FD-C398-4542-89A3C61B7946}"/>
              </a:ext>
            </a:extLst>
          </p:cNvPr>
          <p:cNvSpPr/>
          <p:nvPr/>
        </p:nvSpPr>
        <p:spPr>
          <a:xfrm>
            <a:off x="6767104" y="-216579"/>
            <a:ext cx="19114769" cy="1200329"/>
          </a:xfrm>
          <a:prstGeom prst="rect">
            <a:avLst/>
          </a:prstGeom>
          <a:noFill/>
        </p:spPr>
        <p:txBody>
          <a:bodyPr wrap="square" lIns="91440" tIns="45720" rIns="91440" bIns="45720">
            <a:spAutoFit/>
          </a:bodyPr>
          <a:lstStyle/>
          <a:p>
            <a:pPr algn="ctr"/>
            <a:r>
              <a:rPr lang="en-US" sz="3600" b="1" dirty="0">
                <a:ln w="0"/>
                <a:solidFill>
                  <a:srgbClr val="C00000"/>
                </a:solidFill>
                <a:latin typeface="Garamond" panose="02020404030301010803" pitchFamily="18" charset="0"/>
                <a:ea typeface="Ayuthaya" pitchFamily="2" charset="-34"/>
                <a:cs typeface="Ayuthaya" pitchFamily="2" charset="-34"/>
              </a:rPr>
              <a:t>Group</a:t>
            </a:r>
          </a:p>
          <a:p>
            <a:pPr algn="ctr"/>
            <a:r>
              <a:rPr lang="en-US" sz="3600" b="1" dirty="0">
                <a:ln w="0"/>
                <a:solidFill>
                  <a:srgbClr val="C00000"/>
                </a:solidFill>
                <a:latin typeface="Garamond" panose="02020404030301010803" pitchFamily="18" charset="0"/>
                <a:ea typeface="Ayuthaya" pitchFamily="2" charset="-34"/>
                <a:cs typeface="Ayuthaya" pitchFamily="2" charset="-34"/>
              </a:rPr>
              <a:t> B3</a:t>
            </a:r>
            <a:endParaRPr lang="en-US" sz="3600" b="1" cap="none" spc="0" dirty="0">
              <a:ln w="0"/>
              <a:solidFill>
                <a:srgbClr val="C00000"/>
              </a:solidFill>
              <a:latin typeface="Garamond" panose="02020404030301010803" pitchFamily="18" charset="0"/>
              <a:ea typeface="Ayuthaya" pitchFamily="2" charset="-34"/>
              <a:cs typeface="Ayuthaya" pitchFamily="2" charset="-34"/>
            </a:endParaRPr>
          </a:p>
        </p:txBody>
      </p:sp>
      <p:sp>
        <p:nvSpPr>
          <p:cNvPr id="39" name="Freeform 5">
            <a:extLst>
              <a:ext uri="{FF2B5EF4-FFF2-40B4-BE49-F238E27FC236}">
                <a16:creationId xmlns:a16="http://schemas.microsoft.com/office/drawing/2014/main" id="{B626355F-CB00-4B5B-85C4-F508451A294F}"/>
              </a:ext>
            </a:extLst>
          </p:cNvPr>
          <p:cNvSpPr/>
          <p:nvPr/>
        </p:nvSpPr>
        <p:spPr>
          <a:xfrm>
            <a:off x="15148961" y="14511453"/>
            <a:ext cx="5228322" cy="3570327"/>
          </a:xfrm>
          <a:custGeom>
            <a:avLst/>
            <a:gdLst/>
            <a:ahLst/>
            <a:cxnLst/>
            <a:rect l="l" t="t" r="r" b="b"/>
            <a:pathLst>
              <a:path w="5541823" h="5020792">
                <a:moveTo>
                  <a:pt x="0" y="0"/>
                </a:moveTo>
                <a:lnTo>
                  <a:pt x="5541822" y="0"/>
                </a:lnTo>
                <a:lnTo>
                  <a:pt x="5541822" y="5020792"/>
                </a:lnTo>
                <a:lnTo>
                  <a:pt x="0" y="5020792"/>
                </a:lnTo>
                <a:lnTo>
                  <a:pt x="0" y="0"/>
                </a:lnTo>
                <a:close/>
              </a:path>
            </a:pathLst>
          </a:custGeom>
          <a:blipFill>
            <a:blip r:embed="rId5"/>
            <a:stretch>
              <a:fillRect l="-1123" r="-1123"/>
            </a:stretch>
          </a:blipFill>
        </p:spPr>
      </p:sp>
      <p:pic>
        <p:nvPicPr>
          <p:cNvPr id="3" name="Picture 2">
            <a:extLst>
              <a:ext uri="{FF2B5EF4-FFF2-40B4-BE49-F238E27FC236}">
                <a16:creationId xmlns:a16="http://schemas.microsoft.com/office/drawing/2014/main" id="{5AE07069-C736-42A0-A9DB-E4B7162EC5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7112" y="20874558"/>
            <a:ext cx="3592655" cy="4811591"/>
          </a:xfrm>
          <a:prstGeom prst="rect">
            <a:avLst/>
          </a:prstGeom>
        </p:spPr>
      </p:pic>
      <p:pic>
        <p:nvPicPr>
          <p:cNvPr id="4" name="Picture 3">
            <a:extLst>
              <a:ext uri="{FF2B5EF4-FFF2-40B4-BE49-F238E27FC236}">
                <a16:creationId xmlns:a16="http://schemas.microsoft.com/office/drawing/2014/main" id="{0B0142D8-CF47-4829-C883-E369E584C45D}"/>
              </a:ext>
            </a:extLst>
          </p:cNvPr>
          <p:cNvPicPr>
            <a:picLocks noChangeAspect="1"/>
          </p:cNvPicPr>
          <p:nvPr/>
        </p:nvPicPr>
        <p:blipFill>
          <a:blip r:embed="rId7"/>
          <a:stretch>
            <a:fillRect/>
          </a:stretch>
        </p:blipFill>
        <p:spPr>
          <a:xfrm>
            <a:off x="14733212" y="18979465"/>
            <a:ext cx="5382376" cy="4275981"/>
          </a:xfrm>
          <a:prstGeom prst="rect">
            <a:avLst/>
          </a:prstGeom>
        </p:spPr>
      </p:pic>
      <p:pic>
        <p:nvPicPr>
          <p:cNvPr id="8" name="Picture 7">
            <a:extLst>
              <a:ext uri="{FF2B5EF4-FFF2-40B4-BE49-F238E27FC236}">
                <a16:creationId xmlns:a16="http://schemas.microsoft.com/office/drawing/2014/main" id="{6692FF58-50C5-F42E-D23A-55D82B409D90}"/>
              </a:ext>
            </a:extLst>
          </p:cNvPr>
          <p:cNvPicPr>
            <a:picLocks noChangeAspect="1"/>
          </p:cNvPicPr>
          <p:nvPr/>
        </p:nvPicPr>
        <p:blipFill>
          <a:blip r:embed="rId8"/>
          <a:srcRect b="19221"/>
          <a:stretch>
            <a:fillRect/>
          </a:stretch>
        </p:blipFill>
        <p:spPr>
          <a:xfrm>
            <a:off x="7289637" y="5098241"/>
            <a:ext cx="6707603" cy="10649129"/>
          </a:xfrm>
          <a:prstGeom prst="rect">
            <a:avLst/>
          </a:prstGeom>
        </p:spPr>
      </p:pic>
      <p:sp>
        <p:nvSpPr>
          <p:cNvPr id="9" name="TextBox 8">
            <a:extLst>
              <a:ext uri="{FF2B5EF4-FFF2-40B4-BE49-F238E27FC236}">
                <a16:creationId xmlns:a16="http://schemas.microsoft.com/office/drawing/2014/main" id="{606A9907-2D1D-6502-5E18-E588159A63E7}"/>
              </a:ext>
            </a:extLst>
          </p:cNvPr>
          <p:cNvSpPr txBox="1"/>
          <p:nvPr/>
        </p:nvSpPr>
        <p:spPr>
          <a:xfrm>
            <a:off x="16366736" y="18413240"/>
            <a:ext cx="3580930" cy="369332"/>
          </a:xfrm>
          <a:prstGeom prst="rect">
            <a:avLst/>
          </a:prstGeom>
          <a:noFill/>
        </p:spPr>
        <p:txBody>
          <a:bodyPr wrap="square" rtlCol="0">
            <a:spAutoFit/>
          </a:bodyPr>
          <a:lstStyle/>
          <a:p>
            <a:r>
              <a:rPr lang="en-US" i="1" dirty="0">
                <a:latin typeface="Garamond" panose="02020404030301010803" pitchFamily="18" charset="0"/>
              </a:rPr>
              <a:t>Fig 3. Velocity VS Spacing</a:t>
            </a:r>
          </a:p>
        </p:txBody>
      </p:sp>
      <p:sp>
        <p:nvSpPr>
          <p:cNvPr id="10" name="TextBox 9">
            <a:extLst>
              <a:ext uri="{FF2B5EF4-FFF2-40B4-BE49-F238E27FC236}">
                <a16:creationId xmlns:a16="http://schemas.microsoft.com/office/drawing/2014/main" id="{E48A6605-3CBC-A3FB-08BE-4A8E14EC6546}"/>
              </a:ext>
            </a:extLst>
          </p:cNvPr>
          <p:cNvSpPr txBox="1"/>
          <p:nvPr/>
        </p:nvSpPr>
        <p:spPr>
          <a:xfrm>
            <a:off x="16366736" y="23280354"/>
            <a:ext cx="3580930" cy="369332"/>
          </a:xfrm>
          <a:prstGeom prst="rect">
            <a:avLst/>
          </a:prstGeom>
          <a:noFill/>
        </p:spPr>
        <p:txBody>
          <a:bodyPr wrap="square" rtlCol="0">
            <a:spAutoFit/>
          </a:bodyPr>
          <a:lstStyle/>
          <a:p>
            <a:r>
              <a:rPr lang="en-US" i="1" dirty="0">
                <a:latin typeface="Garamond" panose="02020404030301010803" pitchFamily="18" charset="0"/>
              </a:rPr>
              <a:t>Fig 4 . Thrust VS Voltage</a:t>
            </a:r>
          </a:p>
        </p:txBody>
      </p:sp>
      <p:sp>
        <p:nvSpPr>
          <p:cNvPr id="2" name="TextBox 1">
            <a:extLst>
              <a:ext uri="{FF2B5EF4-FFF2-40B4-BE49-F238E27FC236}">
                <a16:creationId xmlns:a16="http://schemas.microsoft.com/office/drawing/2014/main" id="{00BEE34C-81FA-1BA9-ECDD-99A6F8EEA2B8}"/>
              </a:ext>
            </a:extLst>
          </p:cNvPr>
          <p:cNvSpPr txBox="1"/>
          <p:nvPr/>
        </p:nvSpPr>
        <p:spPr>
          <a:xfrm>
            <a:off x="10067536" y="26180782"/>
            <a:ext cx="3580930" cy="369332"/>
          </a:xfrm>
          <a:prstGeom prst="rect">
            <a:avLst/>
          </a:prstGeom>
          <a:noFill/>
        </p:spPr>
        <p:txBody>
          <a:bodyPr wrap="square" rtlCol="0">
            <a:spAutoFit/>
          </a:bodyPr>
          <a:lstStyle/>
          <a:p>
            <a:r>
              <a:rPr lang="en-US" i="1" dirty="0">
                <a:latin typeface="Garamond" panose="02020404030301010803" pitchFamily="18" charset="0"/>
              </a:rPr>
              <a:t>Fig 2 . Final Setup</a:t>
            </a:r>
          </a:p>
        </p:txBody>
      </p:sp>
      <p:sp>
        <p:nvSpPr>
          <p:cNvPr id="19" name="TextBox 18">
            <a:extLst>
              <a:ext uri="{FF2B5EF4-FFF2-40B4-BE49-F238E27FC236}">
                <a16:creationId xmlns:a16="http://schemas.microsoft.com/office/drawing/2014/main" id="{58BED744-9FC4-38B4-7C36-5BF76F82758F}"/>
              </a:ext>
            </a:extLst>
          </p:cNvPr>
          <p:cNvSpPr txBox="1"/>
          <p:nvPr/>
        </p:nvSpPr>
        <p:spPr>
          <a:xfrm>
            <a:off x="9902436" y="19159831"/>
            <a:ext cx="3580930" cy="369332"/>
          </a:xfrm>
          <a:prstGeom prst="rect">
            <a:avLst/>
          </a:prstGeom>
          <a:noFill/>
        </p:spPr>
        <p:txBody>
          <a:bodyPr wrap="square" rtlCol="0">
            <a:spAutoFit/>
          </a:bodyPr>
          <a:lstStyle/>
          <a:p>
            <a:r>
              <a:rPr lang="en-US" i="1" dirty="0">
                <a:latin typeface="Garamond" panose="02020404030301010803" pitchFamily="18" charset="0"/>
              </a:rPr>
              <a:t>Fig 1 . CAD design</a:t>
            </a:r>
          </a:p>
        </p:txBody>
      </p:sp>
      <p:sp>
        <p:nvSpPr>
          <p:cNvPr id="40" name="Rectangle: Rounded Corners 39">
            <a:extLst>
              <a:ext uri="{FF2B5EF4-FFF2-40B4-BE49-F238E27FC236}">
                <a16:creationId xmlns:a16="http://schemas.microsoft.com/office/drawing/2014/main" id="{C9D577B2-91E7-4C3F-99D2-4A605949CBC3}"/>
              </a:ext>
            </a:extLst>
          </p:cNvPr>
          <p:cNvSpPr/>
          <p:nvPr/>
        </p:nvSpPr>
        <p:spPr>
          <a:xfrm>
            <a:off x="228600" y="14732109"/>
            <a:ext cx="6538504" cy="3349671"/>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031F68FB-7F26-F92E-0D90-2364483B0FEE}"/>
              </a:ext>
            </a:extLst>
          </p:cNvPr>
          <p:cNvSpPr txBox="1"/>
          <p:nvPr/>
        </p:nvSpPr>
        <p:spPr>
          <a:xfrm>
            <a:off x="192290" y="15518776"/>
            <a:ext cx="6858000" cy="2317109"/>
          </a:xfrm>
          <a:prstGeom prst="rect">
            <a:avLst/>
          </a:prstGeom>
          <a:noFill/>
        </p:spPr>
        <p:txBody>
          <a:bodyPr wrap="square">
            <a:spAutoFit/>
          </a:bodyPr>
          <a:lstStyle/>
          <a:p>
            <a:pPr marL="286488" lvl="1" indent="-143244" algn="l">
              <a:lnSpc>
                <a:spcPts val="2864"/>
              </a:lnSpc>
              <a:buFont typeface="Arial"/>
              <a:buChar char="•"/>
            </a:pPr>
            <a:r>
              <a:rPr lang="en-US" sz="2400" dirty="0">
                <a:solidFill>
                  <a:srgbClr val="000000"/>
                </a:solidFill>
                <a:latin typeface="Garamond"/>
                <a:ea typeface="Garamond"/>
                <a:cs typeface="Garamond"/>
                <a:sym typeface="Garamond"/>
              </a:rPr>
              <a:t>Design a compact ionic thruster.</a:t>
            </a:r>
          </a:p>
          <a:p>
            <a:pPr marL="286201" lvl="1" indent="-143100" algn="l">
              <a:lnSpc>
                <a:spcPts val="2864"/>
              </a:lnSpc>
              <a:buFont typeface="Arial"/>
              <a:buChar char="•"/>
            </a:pPr>
            <a:r>
              <a:rPr lang="en-US" sz="2400" dirty="0">
                <a:solidFill>
                  <a:srgbClr val="000000"/>
                </a:solidFill>
                <a:latin typeface="Garamond"/>
                <a:ea typeface="Garamond"/>
                <a:cs typeface="Garamond"/>
                <a:sym typeface="Garamond"/>
              </a:rPr>
              <a:t>Optimize electrode geometry and spacing for maximum thrust</a:t>
            </a:r>
          </a:p>
          <a:p>
            <a:pPr marL="286488" lvl="1" indent="-143244" algn="l">
              <a:lnSpc>
                <a:spcPts val="2864"/>
              </a:lnSpc>
              <a:buFont typeface="Arial"/>
              <a:buChar char="•"/>
            </a:pPr>
            <a:r>
              <a:rPr lang="en-US" sz="2400" dirty="0">
                <a:solidFill>
                  <a:srgbClr val="000000"/>
                </a:solidFill>
                <a:latin typeface="Garamond"/>
                <a:ea typeface="Garamond"/>
                <a:cs typeface="Garamond"/>
                <a:sym typeface="Garamond"/>
              </a:rPr>
              <a:t>Fabricate a working prototype using selected materials</a:t>
            </a:r>
          </a:p>
          <a:p>
            <a:pPr marL="286488" lvl="1" indent="-143244" algn="l">
              <a:lnSpc>
                <a:spcPts val="2864"/>
              </a:lnSpc>
              <a:buFont typeface="Arial"/>
              <a:buChar char="•"/>
            </a:pPr>
            <a:r>
              <a:rPr lang="en-US" sz="2400" dirty="0">
                <a:solidFill>
                  <a:srgbClr val="000000"/>
                </a:solidFill>
                <a:latin typeface="Garamond"/>
                <a:ea typeface="Garamond"/>
                <a:cs typeface="Garamond"/>
                <a:sym typeface="Garamond"/>
              </a:rPr>
              <a:t>Experimentally evaluate thrust performance and feasibility for glider use</a:t>
            </a:r>
          </a:p>
        </p:txBody>
      </p:sp>
      <p:sp>
        <p:nvSpPr>
          <p:cNvPr id="47" name="Rectangle: Diagonal Corners Rounded 46">
            <a:extLst>
              <a:ext uri="{FF2B5EF4-FFF2-40B4-BE49-F238E27FC236}">
                <a16:creationId xmlns:a16="http://schemas.microsoft.com/office/drawing/2014/main" id="{CFF6462A-59BD-3698-E1B5-0C454EAF7AEF}"/>
              </a:ext>
            </a:extLst>
          </p:cNvPr>
          <p:cNvSpPr/>
          <p:nvPr/>
        </p:nvSpPr>
        <p:spPr>
          <a:xfrm>
            <a:off x="571499" y="14807618"/>
            <a:ext cx="5303520" cy="577516"/>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OBJECTIVES</a:t>
            </a:r>
          </a:p>
        </p:txBody>
      </p:sp>
      <p:sp>
        <p:nvSpPr>
          <p:cNvPr id="48" name="Rectangle: Rounded Corners 47">
            <a:extLst>
              <a:ext uri="{FF2B5EF4-FFF2-40B4-BE49-F238E27FC236}">
                <a16:creationId xmlns:a16="http://schemas.microsoft.com/office/drawing/2014/main" id="{E8B3889D-691C-E59E-B9D2-93DA41AB0943}"/>
              </a:ext>
            </a:extLst>
          </p:cNvPr>
          <p:cNvSpPr/>
          <p:nvPr/>
        </p:nvSpPr>
        <p:spPr>
          <a:xfrm>
            <a:off x="246876" y="4158221"/>
            <a:ext cx="6538504" cy="9908896"/>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3200" dirty="0">
              <a:latin typeface="Times New Roman" panose="02020603050405020304" pitchFamily="18" charset="0"/>
              <a:cs typeface="Times New Roman" panose="02020603050405020304" pitchFamily="18" charset="0"/>
            </a:endParaRPr>
          </a:p>
        </p:txBody>
      </p:sp>
      <p:sp>
        <p:nvSpPr>
          <p:cNvPr id="51" name="Rectangle: Diagonal Corners Rounded 50">
            <a:extLst>
              <a:ext uri="{FF2B5EF4-FFF2-40B4-BE49-F238E27FC236}">
                <a16:creationId xmlns:a16="http://schemas.microsoft.com/office/drawing/2014/main" id="{5F0FD796-17EB-1591-4CF4-28F6A23B6ED5}"/>
              </a:ext>
            </a:extLst>
          </p:cNvPr>
          <p:cNvSpPr/>
          <p:nvPr/>
        </p:nvSpPr>
        <p:spPr>
          <a:xfrm>
            <a:off x="571499" y="4342360"/>
            <a:ext cx="5303520" cy="577516"/>
          </a:xfrm>
          <a:prstGeom prst="round2DiagRect">
            <a:avLst>
              <a:gd name="adj1" fmla="val 16667"/>
              <a:gd name="adj2" fmla="val 50000"/>
            </a:avLst>
          </a:prstGeom>
          <a:solidFill>
            <a:srgbClr val="860C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Helvetica" pitchFamily="2" charset="0"/>
              </a:rPr>
              <a:t>INTRODUCTION</a:t>
            </a:r>
          </a:p>
        </p:txBody>
      </p:sp>
      <p:sp>
        <p:nvSpPr>
          <p:cNvPr id="52" name="Rectangle: Rounded Corners 51">
            <a:extLst>
              <a:ext uri="{FF2B5EF4-FFF2-40B4-BE49-F238E27FC236}">
                <a16:creationId xmlns:a16="http://schemas.microsoft.com/office/drawing/2014/main" id="{6C089D3C-536B-1FC2-A181-C011F0D54118}"/>
              </a:ext>
            </a:extLst>
          </p:cNvPr>
          <p:cNvSpPr/>
          <p:nvPr/>
        </p:nvSpPr>
        <p:spPr>
          <a:xfrm>
            <a:off x="219236" y="5104014"/>
            <a:ext cx="6580223" cy="9407439"/>
          </a:xfrm>
          <a:prstGeom prst="roundRect">
            <a:avLst>
              <a:gd name="adj" fmla="val 32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r>
              <a:rPr lang="en-US" sz="2400" dirty="0">
                <a:solidFill>
                  <a:schemeClr val="tx1"/>
                </a:solidFill>
                <a:latin typeface="Garamond" panose="02020404030301010803" pitchFamily="18" charset="0"/>
              </a:rPr>
              <a:t>Ionic thrusters generate thrust by accelerating charged particles using a strong electric field, a principle known as electrohydrodynamic (EHD) propulsion[1][2]. Unlike conventional propulsion systems, they have no moving mechanical parts, operate with very low noise, and can achieve high efficiency at small scales[3]. These characteristics make ionic propulsion a promising technology for lightweight aerial platforms such as gliders and micro-UAVs.</a:t>
            </a:r>
          </a:p>
          <a:p>
            <a:r>
              <a:rPr lang="en-US" sz="2400" dirty="0">
                <a:solidFill>
                  <a:schemeClr val="tx1"/>
                </a:solidFill>
                <a:latin typeface="Garamond" panose="02020404030301010803" pitchFamily="18" charset="0"/>
              </a:rPr>
              <a:t>The practical development of ion propulsion was significantly advanced by NASA with the successful in-space test of the SERT-1 mission in 1964. Since then, ion thrusters have powered deep-space missions such as Deep Space 1 and Dawn, demonstrating exceptional fuel efficiency and long operational lifespan.</a:t>
            </a:r>
          </a:p>
          <a:p>
            <a:r>
              <a:rPr lang="en-US" sz="2400" dirty="0">
                <a:solidFill>
                  <a:schemeClr val="tx1"/>
                </a:solidFill>
                <a:latin typeface="Garamond" panose="02020404030301010803" pitchFamily="18" charset="0"/>
              </a:rPr>
              <a:t>Motivated by the growing need for quieter and more environmentally friendly propulsion technologie</a:t>
            </a:r>
            <a:r>
              <a:rPr lang="en-US" sz="2400" b="1" dirty="0">
                <a:solidFill>
                  <a:schemeClr val="tx1"/>
                </a:solidFill>
                <a:latin typeface="Garamond" panose="02020404030301010803" pitchFamily="18" charset="0"/>
              </a:rPr>
              <a:t>s</a:t>
            </a:r>
            <a:r>
              <a:rPr lang="en-US" sz="2400" dirty="0">
                <a:solidFill>
                  <a:schemeClr val="tx1"/>
                </a:solidFill>
                <a:latin typeface="Garamond" panose="02020404030301010803" pitchFamily="18" charset="0"/>
              </a:rPr>
              <a:t>, this project focuses on designing a compact laboratory-scale ionic thruster capable of generating measurable thrust. The goal is to explore its feasibility for lightweight glider propulsion and investigate the engineering challenges of adapting ion propulsion for atmospheric application</a:t>
            </a:r>
          </a:p>
          <a:p>
            <a:pPr algn="just">
              <a:lnSpc>
                <a:spcPts val="2864"/>
              </a:lnSpc>
            </a:pPr>
            <a:r>
              <a:rPr lang="en-US" sz="2400" dirty="0">
                <a:solidFill>
                  <a:schemeClr val="tx1"/>
                </a:solidFill>
                <a:latin typeface="Garamond" panose="02020404030301010803" pitchFamily="18" charset="0"/>
                <a:ea typeface="Garamond"/>
                <a:cs typeface="Garamond"/>
                <a:sym typeface="Garamond"/>
              </a:rPr>
              <a:t>.</a:t>
            </a:r>
          </a:p>
          <a:p>
            <a:pPr algn="just">
              <a:lnSpc>
                <a:spcPts val="2864"/>
              </a:lnSpc>
            </a:pPr>
            <a:endParaRPr lang="en-US" sz="2400" dirty="0">
              <a:solidFill>
                <a:schemeClr val="tx1"/>
              </a:solidFill>
              <a:latin typeface="Garamond" panose="02020404030301010803" pitchFamily="18" charset="0"/>
              <a:ea typeface="Garamond"/>
              <a:cs typeface="Garamond"/>
              <a:sym typeface="Garamond"/>
            </a:endParaRPr>
          </a:p>
        </p:txBody>
      </p:sp>
      <p:pic>
        <p:nvPicPr>
          <p:cNvPr id="18" name="Picture 17">
            <a:extLst>
              <a:ext uri="{FF2B5EF4-FFF2-40B4-BE49-F238E27FC236}">
                <a16:creationId xmlns:a16="http://schemas.microsoft.com/office/drawing/2014/main" id="{1F512A58-70CD-4361-8342-59E3E3FF9C2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32141" y="15646976"/>
            <a:ext cx="3188956" cy="3319019"/>
          </a:xfrm>
          <a:prstGeom prst="rect">
            <a:avLst/>
          </a:prstGeom>
        </p:spPr>
      </p:pic>
      <p:pic>
        <p:nvPicPr>
          <p:cNvPr id="21" name="Picture 20">
            <a:extLst>
              <a:ext uri="{FF2B5EF4-FFF2-40B4-BE49-F238E27FC236}">
                <a16:creationId xmlns:a16="http://schemas.microsoft.com/office/drawing/2014/main" id="{26A010AA-46ED-5BD0-6E6A-EDF520E98AC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89154" y="15641536"/>
            <a:ext cx="2501900" cy="2781784"/>
          </a:xfrm>
          <a:prstGeom prst="rect">
            <a:avLst/>
          </a:prstGeom>
        </p:spPr>
      </p:pic>
    </p:spTree>
    <p:extLst>
      <p:ext uri="{BB962C8B-B14F-4D97-AF65-F5344CB8AC3E}">
        <p14:creationId xmlns:p14="http://schemas.microsoft.com/office/powerpoint/2010/main" val="29881583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1783</TotalTime>
  <Words>873</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Bahnschrift</vt:lpstr>
      <vt:lpstr>Calibri</vt:lpstr>
      <vt:lpstr>Calibri Light</vt:lpstr>
      <vt:lpstr>Garamond</vt:lpstr>
      <vt:lpstr>Helvetica</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Mahmood Hasan</dc:creator>
  <cp:lastModifiedBy>Rakib Mahmud</cp:lastModifiedBy>
  <cp:revision>80</cp:revision>
  <dcterms:created xsi:type="dcterms:W3CDTF">2023-10-30T05:51:28Z</dcterms:created>
  <dcterms:modified xsi:type="dcterms:W3CDTF">2026-03-19T08:32:17Z</dcterms:modified>
</cp:coreProperties>
</file>